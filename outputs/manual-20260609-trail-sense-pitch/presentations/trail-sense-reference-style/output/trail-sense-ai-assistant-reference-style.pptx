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39822bcd9c40d9" /><Relationship Type="http://schemas.openxmlformats.org/officeDocument/2006/relationships/extended-properties" Target="/docProps/app.xml" Id="R6577b3f62d624331" /><Relationship Type="http://schemas.openxmlformats.org/officeDocument/2006/relationships/officeDocument" Target="/ppt/presentation.xml" Id="R3264fdafad0547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59b96993004b49"/>
  </p:sldMasterIdLst>
  <p:notesMasterIdLst>
    <p:notesMasterId xmlns:r="http://schemas.openxmlformats.org/officeDocument/2006/relationships" r:id="R074a647e414941a9"/>
  </p:notesMasterIdLst>
  <p:sldIdLst>
    <p:sldId xmlns:r="http://schemas.openxmlformats.org/officeDocument/2006/relationships" id="256" r:id="R5873f46842f94395"/>
    <p:sldId xmlns:r="http://schemas.openxmlformats.org/officeDocument/2006/relationships" id="257" r:id="R77d3df2845224f48"/>
    <p:sldId xmlns:r="http://schemas.openxmlformats.org/officeDocument/2006/relationships" id="258" r:id="R910a2e63a0e14117"/>
    <p:sldId xmlns:r="http://schemas.openxmlformats.org/officeDocument/2006/relationships" id="259" r:id="R07ad09162eb64cbd"/>
    <p:sldId xmlns:r="http://schemas.openxmlformats.org/officeDocument/2006/relationships" id="260" r:id="R3d66b4aa0fbc492c"/>
    <p:sldId xmlns:r="http://schemas.openxmlformats.org/officeDocument/2006/relationships" id="261" r:id="R1c177eec763f4f7a"/>
    <p:sldId xmlns:r="http://schemas.openxmlformats.org/officeDocument/2006/relationships" id="262" r:id="Rb32e6602707c491d"/>
    <p:sldId xmlns:r="http://schemas.openxmlformats.org/officeDocument/2006/relationships" id="263" r:id="Ra413d19a7e564fc6"/>
    <p:sldId xmlns:r="http://schemas.openxmlformats.org/officeDocument/2006/relationships" id="264" r:id="Rfee067e260374bfc"/>
    <p:sldId xmlns:r="http://schemas.openxmlformats.org/officeDocument/2006/relationships" id="265" r:id="Rf9bdd8efd0c54e1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a93d3517444aab" /><Relationship Type="http://schemas.openxmlformats.org/officeDocument/2006/relationships/slideMaster" Target="/ppt/slideMasters/slideMaster1.xml" Id="Re559b96993004b49" /><Relationship Type="http://schemas.openxmlformats.org/officeDocument/2006/relationships/notesMaster" Target="/ppt/notesMasters/notesMaster1.xml" Id="R074a647e414941a9" /><Relationship Type="http://schemas.openxmlformats.org/officeDocument/2006/relationships/presProps" Target="/ppt/presProps.xml" Id="R9bcaa6654d6a4e3d" /><Relationship Type="http://schemas.openxmlformats.org/officeDocument/2006/relationships/viewProps" Target="/ppt/viewProps.xml" Id="R96037fd48c7747a0" /><Relationship Type="http://schemas.openxmlformats.org/officeDocument/2006/relationships/tableStyles" Target="/ppt/tableStyles.xml" Id="R02a6b83b616e4dbb" /><Relationship Type="http://schemas.openxmlformats.org/officeDocument/2006/relationships/slide" Target="/ppt/slides/slide1.xml" Id="R5873f46842f94395" /><Relationship Type="http://schemas.openxmlformats.org/officeDocument/2006/relationships/slide" Target="/ppt/slides/slide2.xml" Id="R77d3df2845224f48" /><Relationship Type="http://schemas.openxmlformats.org/officeDocument/2006/relationships/slide" Target="/ppt/slides/slide3.xml" Id="R910a2e63a0e14117" /><Relationship Type="http://schemas.openxmlformats.org/officeDocument/2006/relationships/slide" Target="/ppt/slides/slide4.xml" Id="R07ad09162eb64cbd" /><Relationship Type="http://schemas.openxmlformats.org/officeDocument/2006/relationships/slide" Target="/ppt/slides/slide5.xml" Id="R3d66b4aa0fbc492c" /><Relationship Type="http://schemas.openxmlformats.org/officeDocument/2006/relationships/slide" Target="/ppt/slides/slide6.xml" Id="R1c177eec763f4f7a" /><Relationship Type="http://schemas.openxmlformats.org/officeDocument/2006/relationships/slide" Target="/ppt/slides/slide7.xml" Id="Rb32e6602707c491d" /><Relationship Type="http://schemas.openxmlformats.org/officeDocument/2006/relationships/slide" Target="/ppt/slides/slide8.xml" Id="Ra413d19a7e564fc6" /><Relationship Type="http://schemas.openxmlformats.org/officeDocument/2006/relationships/slide" Target="/ppt/slides/slide9.xml" Id="Rfee067e260374bfc" /><Relationship Type="http://schemas.openxmlformats.org/officeDocument/2006/relationships/slide" Target="/ppt/slides/slide10.xml" Id="Rf9bdd8efd0c54e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dc3d65d86149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3eda454dfd44a0" /><Relationship Type="http://schemas.openxmlformats.org/officeDocument/2006/relationships/notesMaster" Target="/ppt/notesMasters/notesMaster1.xml" Id="Rcb34ebccbe2c4d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9ecd32fa264e51" /><Relationship Type="http://schemas.openxmlformats.org/officeDocument/2006/relationships/notesMaster" Target="/ppt/notesMasters/notesMaster1.xml" Id="R4fd47c3ae12449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da0a25460614262" /><Relationship Type="http://schemas.openxmlformats.org/officeDocument/2006/relationships/notesMaster" Target="/ppt/notesMasters/notesMaster1.xml" Id="R7272e8247a364e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4db0226585441e" /><Relationship Type="http://schemas.openxmlformats.org/officeDocument/2006/relationships/notesMaster" Target="/ppt/notesMasters/notesMaster1.xml" Id="Rbd2440b711fe4d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f330664c464fa3" /><Relationship Type="http://schemas.openxmlformats.org/officeDocument/2006/relationships/notesMaster" Target="/ppt/notesMasters/notesMaster1.xml" Id="R0e2a04f3e4fe4e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b7b1be35354d35" /><Relationship Type="http://schemas.openxmlformats.org/officeDocument/2006/relationships/notesMaster" Target="/ppt/notesMasters/notesMaster1.xml" Id="R23b996f73f294c7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49f547fc3e74a84" /><Relationship Type="http://schemas.openxmlformats.org/officeDocument/2006/relationships/notesMaster" Target="/ppt/notesMasters/notesMaster1.xml" Id="R5a215e4481cc4ee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ce16c4421404ccf" /><Relationship Type="http://schemas.openxmlformats.org/officeDocument/2006/relationships/notesMaster" Target="/ppt/notesMasters/notesMaster1.xml" Id="R0a5bc0a7e8fd42c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4b277f948194cde" /><Relationship Type="http://schemas.openxmlformats.org/officeDocument/2006/relationships/notesMaster" Target="/ppt/notesMasters/notesMaster1.xml" Id="Rd48bb647e29f494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f332bcf09584588" /><Relationship Type="http://schemas.openxmlformats.org/officeDocument/2006/relationships/notesMaster" Target="/ppt/notesMasters/notesMaster1.xml" Id="R899b0d1130064c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7fdb93a04a40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6e176c4c154955" /><Relationship Type="http://schemas.openxmlformats.org/officeDocument/2006/relationships/slideLayout" Target="/ppt/slideLayouts/slideLayout1.xml" Id="R6e02b4320b8c4f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02b4320b8c4f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c09452fdaa4b11" /><Relationship Type="http://schemas.openxmlformats.org/officeDocument/2006/relationships/notesSlide" Target="/ppt/notesSlides/notesSlide1.xml" Id="R25e09611c43148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8324bf42de4f3a" /><Relationship Type="http://schemas.openxmlformats.org/officeDocument/2006/relationships/notesSlide" Target="/ppt/notesSlides/notesSlide2.xml" Id="R50412c22220742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47d16d8e914fa6" /><Relationship Type="http://schemas.openxmlformats.org/officeDocument/2006/relationships/notesSlide" Target="/ppt/notesSlides/notesSlide3.xml" Id="R33582a27468548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452d52f2254a23" /><Relationship Type="http://schemas.openxmlformats.org/officeDocument/2006/relationships/notesSlide" Target="/ppt/notesSlides/notesSlide4.xml" Id="R46bf64cd6f5e41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0ccef358334994" /><Relationship Type="http://schemas.openxmlformats.org/officeDocument/2006/relationships/notesSlide" Target="/ppt/notesSlides/notesSlide5.xml" Id="Rda57d81dc0a141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e6e7152c684e1c" /><Relationship Type="http://schemas.openxmlformats.org/officeDocument/2006/relationships/notesSlide" Target="/ppt/notesSlides/notesSlide6.xml" Id="R2e401205341a422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770ec47a024c3f" /><Relationship Type="http://schemas.openxmlformats.org/officeDocument/2006/relationships/notesSlide" Target="/ppt/notesSlides/notesSlide7.xml" Id="Rc7fe282f16564b1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84c53e8f134502" /><Relationship Type="http://schemas.openxmlformats.org/officeDocument/2006/relationships/notesSlide" Target="/ppt/notesSlides/notesSlide8.xml" Id="R20fbb547bd604cf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567ae324704a74" /><Relationship Type="http://schemas.openxmlformats.org/officeDocument/2006/relationships/notesSlide" Target="/ppt/notesSlides/notesSlide9.xml" Id="Rc31697163d9e4b2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e36155c1764d91" /><Relationship Type="http://schemas.openxmlformats.org/officeDocument/2006/relationships/notesSlide" Target="/ppt/notesSlides/notesSlide10.xml" Id="Re336442327704f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1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28194C-468D-4F96-9BBC-C36D3CA0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DF4"/>
              </a:gs>
              <a:gs pos="62000">
                <a:srgbClr val="F4EDDE"/>
              </a:gs>
              <a:gs pos="100000">
                <a:srgbClr val="E6E2D0"/>
              </a:gs>
            </a:gsLst>
            <a:lin ang="9000000"/>
          </a:gradFill>
          <a:ln xmlns:a="http://schemas.openxmlformats.org/drawingml/2006/main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97403E-F89D-4765-AE87-B4A1BB99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37147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683B">
              <a:alpha val="6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6F89EA-BA13-4F03-A2E8-5D28A098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8625"/>
            <a:ext cx="285750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12853F-BA08-4236-9D4D-5B3690AF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657225"/>
            <a:ext cx="2133600" cy="1352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1872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888D61-58A3-4D14-A34E-A12EB090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923925"/>
            <a:ext cx="129540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143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535200-4694-4811-B5D4-5F6E71D1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333500"/>
            <a:ext cx="27622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16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2EDD1C-6E83-41D7-890E-B297F68C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1562100"/>
            <a:ext cx="2038350" cy="1352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1152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B5A530-A022-400B-B2A6-9223FBCD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1828800"/>
            <a:ext cx="1200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88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4408E1-51D8-4476-821E-D6ACE27A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219700"/>
            <a:ext cx="285750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14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690C95-910B-4BBE-B386-86BA2ECA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448300"/>
            <a:ext cx="213360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1008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80E0B1-A17C-46C3-BF36-F7AA62FF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5715000"/>
            <a:ext cx="129540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77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670934-D8F9-4296-B849-4364DB8F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86375"/>
            <a:ext cx="4632960" cy="1343406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1865C">
              <a:alpha val="18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40B446-1C03-415A-B124-DE43C9F0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48250"/>
            <a:ext cx="5120640" cy="1638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1865C">
              <a:alpha val="18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A87F9B-5CBC-4201-841E-6D52432E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219700"/>
            <a:ext cx="5364480" cy="147447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1865C">
              <a:alpha val="18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4D2DA1-2494-4DE9-ACD2-659AA43F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53000"/>
            <a:ext cx="4267200" cy="1638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8764D">
              <a:alpha val="24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A3CE3E-A28E-4A7B-86A2-ADCCC3D5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5852160" cy="1638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8764D">
              <a:alpha val="24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3C6F89-B7FE-4DAF-B69C-8B02ABFF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98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>
              <a:alpha val="75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EE475D-962F-4981-8FD3-B1F337D0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71450"/>
            <a:ext cx="533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3F22"/>
          </a:solidFill>
          <a:ln xmlns:a="http://schemas.openxmlformats.org/drawingml/2006/main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071397-F5C8-435C-A0F5-29A93D63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"/>
            <a:ext cx="533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2C987E-3E84-45B2-84E5-407FDC7D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4953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让离线户外工具箱</a:t>
            </a:r>
          </a:p>
          <a:p xmlns:a="http://schemas.openxmlformats.org/drawingml/2006/main">
            <a:pPr algn="l">
              <a:defRPr sz="3000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具备端侧 AI 判断力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DCD4B2-0FD7-4043-8E81-BC70B4FD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595884" cy="455676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3F22">
              <a:alpha val="10000"/>
            </a:srgbClr>
          </a:solidFill>
          <a:ln xmlns:a="http://schemas.openxmlformats.org/drawingml/2006/main" w="26289">
            <a:solidFill>
              <a:srgbClr val="173F2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EB842A-C42C-4462-9A18-33B87554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368" y="2432304"/>
            <a:ext cx="455676" cy="385572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3F22">
              <a:alpha val="5000"/>
            </a:srgbClr>
          </a:solidFill>
          <a:ln xmlns:a="http://schemas.openxmlformats.org/drawingml/2006/main" w="26289">
            <a:solidFill>
              <a:srgbClr val="173F2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FBD17C-ADD4-4FE4-818D-05A2C3C8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400300"/>
            <a:ext cx="2571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2419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TRAIL SENSE</a:t>
            </a:r>
          </a:p>
          <a:p xmlns:a="http://schemas.openxmlformats.org/drawingml/2006/main">
            <a:pPr algn="l">
              <a:defRPr sz="2100" b="1">
                <a:solidFill>
                  <a:srgbClr val="122419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AI ASSISTANT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298B7F-C848-49D9-9F93-CA089F53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57550"/>
            <a:ext cx="48577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Trail Sense AI Assistant 基于成熟离线户外 App 构建，使用 Gemma 4、LiteRT-LM、Agent Skill、Native Function Calling 和多模态输入，让户外工具箱具备自然语言理解和本地任务执行能力。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2FEB87-E793-47AF-87FC-E377716F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00550"/>
            <a:ext cx="11430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DF4"/>
          </a:solidFill>
          <a:ln xmlns:a="http://schemas.openxmlformats.org/drawingml/2006/main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4135CA-B968-4B46-A531-8E29D19A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0075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F22"/>
                </a:solidFill>
                <a:latin typeface="Avenir Next"/>
                <a:ea typeface="Avenir Next"/>
                <a:cs typeface="Avenir Next"/>
              </a:defRPr>
            </a:pPr>
            <a:r>
              <a:t>Gemma 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426EC7-D274-4C16-B50E-CB66FF45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400550"/>
            <a:ext cx="11430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DF4"/>
          </a:solidFill>
          <a:ln xmlns:a="http://schemas.openxmlformats.org/drawingml/2006/main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16C0D2-14C5-49FE-A911-F78D8C57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410075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F22"/>
                </a:solidFill>
                <a:latin typeface="Avenir Next"/>
                <a:ea typeface="Avenir Next"/>
                <a:cs typeface="Avenir Next"/>
              </a:defRPr>
            </a:pPr>
            <a:r>
              <a:t>LiteRT-LM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644074-0FE2-4065-AFB3-37F0A078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400550"/>
            <a:ext cx="12763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DF4"/>
          </a:solidFill>
          <a:ln xmlns:a="http://schemas.openxmlformats.org/drawingml/2006/main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4A924B-B6C3-4739-AAB9-219C007D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410075"/>
            <a:ext cx="1276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F22"/>
                </a:solidFill>
                <a:latin typeface="Avenir Next"/>
                <a:ea typeface="Avenir Next"/>
                <a:cs typeface="Avenir Next"/>
              </a:defRPr>
            </a:pPr>
            <a:r>
              <a:t>Agent Skill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022BE0-290B-4731-8061-6393D425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00550"/>
            <a:ext cx="10287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DF4"/>
          </a:solidFill>
          <a:ln xmlns:a="http://schemas.openxmlformats.org/drawingml/2006/main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C30650-37F2-4CC0-89F8-1D4CF58FA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0075"/>
            <a:ext cx="1028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F22"/>
                </a:solidFill>
                <a:latin typeface="Avenir Next"/>
                <a:ea typeface="Avenir Next"/>
                <a:cs typeface="Avenir Next"/>
              </a:defRPr>
            </a:pPr>
            <a:r>
              <a:t>Edge AI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DD23EE-EECE-4BA9-AEA1-44F6336D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1504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F22"/>
          </a:solidFill>
          <a:ln xmlns:a="http://schemas.openxmlformats.org/drawingml/2006/main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F27F5B-0FC5-46F9-A2B5-6CBBD013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62525"/>
            <a:ext cx="1504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0 云端 LLM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2B6801-3E14-47EA-91CF-8E83AA78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953000"/>
            <a:ext cx="16002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F22"/>
          </a:solidFill>
          <a:ln xmlns:a="http://schemas.openxmlformats.org/drawingml/2006/main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CEA87A-E0CE-4B0C-8B1D-F96976CB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962525"/>
            <a:ext cx="1600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12+ 本地工具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E949CF-F2EC-492E-AD19-358EBCCD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953000"/>
            <a:ext cx="1885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F22"/>
          </a:solidFill>
          <a:ln xmlns:a="http://schemas.openxmlformats.org/drawingml/2006/main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0265DBC-37FA-464D-90FE-7D270F23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962525"/>
            <a:ext cx="1885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完整 Android App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125BCD-D22B-4AEF-8F99-01EEAD10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4000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4"/>
          </a:solidFill>
          <a:ln xmlns:a="http://schemas.openxmlformats.org/drawingml/2006/main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F22A209-1563-47A4-98A8-AFD8F4E6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53075"/>
            <a:ext cx="400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Demo 链接：youtube.com/watch?v=EkK9DF7OfXg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528170D-AD04-4E75-9831-FC5A801E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066800"/>
            <a:ext cx="2000250" cy="38481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01912"/>
          </a:solidFill>
          <a:ln xmlns:a="http://schemas.openxmlformats.org/drawingml/2006/main" w="19050">
            <a:solidFill>
              <a:srgbClr val="122419">
                <a:alpha val="6500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9924B9E-3331-44AA-A6D7-AFCF96098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314450"/>
            <a:ext cx="1771650" cy="3409950"/>
          </a:xfrm>
          <a:prstGeom xmlns:a="http://schemas.openxmlformats.org/drawingml/2006/main" prst="roundRect">
            <a:avLst>
              <a:gd name="adj" fmla="val 10753"/>
            </a:avLst>
          </a:prstGeom>
          <a:solidFill xmlns:a="http://schemas.openxmlformats.org/drawingml/2006/main">
            <a:srgbClr val="1A2B1D"/>
          </a:solidFill>
          <a:ln xmlns:a="http://schemas.openxmlformats.org/drawingml/2006/main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4900CD3-C834-487C-AC02-8BB8EBE7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162050"/>
            <a:ext cx="6096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2C24"/>
          </a:solidFill>
          <a:ln xmlns:a="http://schemas.openxmlformats.org/drawingml/2006/main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086F5BF-EF2A-4192-A93E-CE454D44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428750"/>
            <a:ext cx="1581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TRAIL SENSE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998E682-7864-4B7E-849A-E73F2A7C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33550"/>
            <a:ext cx="1428750" cy="904875"/>
          </a:xfrm>
          <a:prstGeom xmlns:a="http://schemas.openxmlformats.org/drawingml/2006/main" prst="roundRect">
            <a:avLst>
              <a:gd name="adj" fmla="val 14737"/>
            </a:avLst>
          </a:prstGeom>
          <a:solidFill xmlns:a="http://schemas.openxmlformats.org/drawingml/2006/main">
            <a:srgbClr val="FFFDF4">
              <a:alpha val="8000"/>
            </a:srgbClr>
          </a:solidFill>
          <a:ln xmlns:a="http://schemas.openxmlformats.org/drawingml/2006/main"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3B13AA3-7F61-4E4E-8EAB-304E297C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47850"/>
            <a:ext cx="1200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AI Assistant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4B71413-BDFA-4FF0-BEC9-0AF4759A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62175"/>
            <a:ext cx="12001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DE8D6"/>
                </a:solidFill>
                <a:latin typeface="Avenir Next"/>
                <a:ea typeface="Avenir Next"/>
                <a:cs typeface="Avenir Next"/>
              </a:defRPr>
            </a:pPr>
            <a:r>
              <a:t>本地 LLM</a:t>
            </a:r>
          </a:p>
          <a:p xmlns:a="http://schemas.openxmlformats.org/drawingml/2006/main">
            <a:pPr algn="l">
              <a:defRPr sz="788" b="0">
                <a:solidFill>
                  <a:srgbClr val="DDE8D6"/>
                </a:solidFill>
                <a:latin typeface="Avenir Next"/>
                <a:ea typeface="Avenir Next"/>
                <a:cs typeface="Avenir Next"/>
              </a:defRPr>
            </a:pPr>
            <a:r>
              <a:t>工具调用</a:t>
            </a:r>
          </a:p>
          <a:p xmlns:a="http://schemas.openxmlformats.org/drawingml/2006/main">
            <a:pPr algn="l">
              <a:defRPr sz="788" b="0">
                <a:solidFill>
                  <a:srgbClr val="DDE8D6"/>
                </a:solidFill>
                <a:latin typeface="Avenir Next"/>
                <a:ea typeface="Avenir Next"/>
                <a:cs typeface="Avenir Next"/>
              </a:defRPr>
            </a:pPr>
            <a:r>
              <a:t>离线任务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5F29DA3-96FC-4C3E-8B3C-0FDF89CF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76550"/>
            <a:ext cx="6286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4">
              <a:alpha val="8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E90F3E0-D3BC-4567-B1E2-62AB1402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76550"/>
            <a:ext cx="6286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指南针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15B3B3E-46CC-41DF-AEFE-EB236F4AC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76550"/>
            <a:ext cx="6286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4">
              <a:alpha val="8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71B415F-25B7-4C8E-8C95-ACFF881E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76550"/>
            <a:ext cx="6286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路径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D1D5F67-D1E2-40C3-A97B-6252B83A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71850"/>
            <a:ext cx="6286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4">
              <a:alpha val="8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3227C5A-88BB-4CC5-BF84-D44BE92CC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71850"/>
            <a:ext cx="6286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天气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40CDA91-D998-4F0B-A656-0C900607D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71850"/>
            <a:ext cx="6286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4">
              <a:alpha val="8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FBF78BE-10B7-4D2E-9271-690A76CD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71850"/>
            <a:ext cx="6286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SOS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8202F6E-1793-40FB-885F-0CE3A301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686300"/>
            <a:ext cx="2667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3A33"/>
          </a:solidFill>
          <a:ln xmlns:a="http://schemas.openxmlformats.org/drawingml/2006/main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453F5D1-3F24-490E-AE42-C3CB02A3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476750"/>
            <a:ext cx="1714500" cy="1619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3F22">
              <a:alpha val="34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2B2D3CA-AD70-4138-9A21-4207297D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81025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F22"/>
                </a:solidFill>
                <a:latin typeface="Avenir Next"/>
                <a:ea typeface="Avenir Next"/>
                <a:cs typeface="Avenir Next"/>
              </a:defRPr>
            </a:pPr>
            <a:r>
              <a:t>Track C · Gemma 4 · Edge AI</a:t>
            </a:r>
          </a:p>
        </p:txBody>
      </p:sp>
    </p:spTree>
    <p:extLst>
      <p:ext uri="{BB962C8B-B14F-4D97-AF65-F5344CB8AC3E}">
        <p14:creationId xmlns:p14="http://schemas.microsoft.com/office/powerpoint/2010/main" val="8350682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1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AE64B6-575A-4AFF-856B-4EBF756F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DF4"/>
              </a:gs>
              <a:gs pos="62000">
                <a:srgbClr val="F4EDDE"/>
              </a:gs>
              <a:gs pos="100000">
                <a:srgbClr val="E6E2D0"/>
              </a:gs>
            </a:gsLst>
            <a:lin ang="9000000"/>
          </a:gradFill>
          <a:ln xmlns:a="http://schemas.openxmlformats.org/drawingml/2006/main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5B2870-C085-45B1-B2FC-EE5B245E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37147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683B">
              <a:alpha val="6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3821AC-11CC-4896-B91B-05D9B007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8625"/>
            <a:ext cx="285750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572D57-D6AD-474A-B15F-D1999AFA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657225"/>
            <a:ext cx="2133600" cy="1352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1872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1ADC5E-0489-49B5-AA3E-36FF0059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923925"/>
            <a:ext cx="129540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143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F231B7-C6E8-443D-8DA6-5CD8C2B7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333500"/>
            <a:ext cx="27622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16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49E065-E0BE-438C-9F6F-F7474A42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1562100"/>
            <a:ext cx="2038350" cy="1352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1152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C04AA7-61C3-4A5A-9E92-C1864301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1828800"/>
            <a:ext cx="1200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88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BB47BB-316F-465C-A397-3DDC62F3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219700"/>
            <a:ext cx="285750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14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1DF742-6291-4DF1-983A-0DE78063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448300"/>
            <a:ext cx="213360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1008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319666-AE0E-4601-A653-A391890A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5715000"/>
            <a:ext cx="129540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77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F7E25E-CA10-41EB-A71F-A88872D1A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86375"/>
            <a:ext cx="4632960" cy="1343406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1865C">
              <a:alpha val="18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5EEE2B-EC42-4880-B424-8B9E4A67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48250"/>
            <a:ext cx="5120640" cy="1638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1865C">
              <a:alpha val="18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BDEA05-B42A-4F76-B23B-27BB18AF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219700"/>
            <a:ext cx="5364480" cy="147447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1865C">
              <a:alpha val="18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AAA60D-9726-49F0-A3DD-2EF9EF34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53000"/>
            <a:ext cx="4267200" cy="1638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8764D">
              <a:alpha val="24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F97604-B2C5-4855-9974-0D919078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5852160" cy="1638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8764D">
              <a:alpha val="24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D37F6F-47E9-4D71-9296-5CCFA7D5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98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>
              <a:alpha val="75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F1F8EA-BDCE-44A0-BE7E-7EC5E122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71450"/>
            <a:ext cx="533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3F22"/>
          </a:solidFill>
          <a:ln xmlns:a="http://schemas.openxmlformats.org/drawingml/2006/main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D53BA5-7B5B-44D0-9638-5303341B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"/>
            <a:ext cx="533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D5ADF8-1B5D-40ED-AA94-9ED727A7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"/>
            <a:ext cx="52387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户外场景不是缺 App，</a:t>
            </a:r>
          </a:p>
          <a:p xmlns:a="http://schemas.openxmlformats.org/drawingml/2006/main">
            <a:pPr algn="l">
              <a:defRPr sz="2250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而是缺少低成本判断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2DBC01-9F66-468C-A651-4B06B460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4476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DF4">
              <a:alpha val="88000"/>
            </a:srgbClr>
          </a:solidFill>
          <a:ln xmlns:a="http://schemas.openxmlformats.org/drawingml/2006/main" w="9525">
            <a:solidFill>
              <a:srgbClr val="46683B">
                <a:alpha val="45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A16700-6711-44D7-90E3-9355CAA6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24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683B"/>
          </a:solidFill>
          <a:ln xmlns:a="http://schemas.openxmlformats.org/drawingml/2006/main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EF44F9-6EE1-4344-88C6-710415C1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33525"/>
            <a:ext cx="361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69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41FDC6-CE57-488E-8616-ECA2634D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533525"/>
            <a:ext cx="3733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工具多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A5956E-F9C2-4761-804A-408B3A56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847850"/>
            <a:ext cx="37338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指南针、路径、天气、信标、SOS、云层、高线地图分散在不同入口。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1613EF-EB18-436F-B4A9-530305D8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476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DF4">
              <a:alpha val="88000"/>
            </a:srgbClr>
          </a:solidFill>
          <a:ln xmlns:a="http://schemas.openxmlformats.org/drawingml/2006/main" w="9525">
            <a:solidFill>
              <a:srgbClr val="46683B">
                <a:alpha val="4500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1FB90D-FEBE-4F5D-AD61-538994FF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865C"/>
          </a:solidFill>
          <a:ln xmlns:a="http://schemas.openxmlformats.org/drawingml/2006/main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7FD1F7-DB2A-4B72-8B25-1227496B6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14575"/>
            <a:ext cx="361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69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读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F57E88-780F-4D9B-A8A4-4CBF3577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314575"/>
            <a:ext cx="3733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读数难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C27FE7-62B9-4772-952B-AEDEFA46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28900"/>
            <a:ext cx="37338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气压、方向、坡度、云层变化需要经验解释。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597AD2-7F94-4B8B-BF8B-72D32F6D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4476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DF4">
              <a:alpha val="88000"/>
            </a:srgbClr>
          </a:solidFill>
          <a:ln xmlns:a="http://schemas.openxmlformats.org/drawingml/2006/main" w="9525">
            <a:solidFill>
              <a:srgbClr val="46683B">
                <a:alpha val="45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F2B2C5-7849-46AB-A305-9236D451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86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8A4B"/>
          </a:solidFill>
          <a:ln xmlns:a="http://schemas.openxmlformats.org/drawingml/2006/main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D6DCA4-3B33-4006-AD9C-63821A71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95625"/>
            <a:ext cx="361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69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6642C6-21CF-49D3-8ECF-5F1DDDF1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95625"/>
            <a:ext cx="3733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场景急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684452-71C3-4FDF-8BE5-6C62D74A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09950"/>
            <a:ext cx="37338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迷路、天气突变、夜间返程、受伤求助时操作成本必须降低。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3925E2-D145-4AA9-94E2-9F7411C4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476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DF4">
              <a:alpha val="88000"/>
            </a:srgbClr>
          </a:solidFill>
          <a:ln xmlns:a="http://schemas.openxmlformats.org/drawingml/2006/main" w="9525">
            <a:solidFill>
              <a:srgbClr val="46683B">
                <a:alpha val="4500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1A06EF3-C145-4FED-8260-65C57915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683B"/>
          </a:solidFill>
          <a:ln xmlns:a="http://schemas.openxmlformats.org/drawingml/2006/main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7B071F-6EE5-426C-9DC4-BE91BC7D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76675"/>
            <a:ext cx="361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69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483731D-7B6D-4112-91EE-E418A34C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76675"/>
            <a:ext cx="3733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无网络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BF89D4C-6D19-4B3E-8442-31879059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191000"/>
            <a:ext cx="37338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云端 AI 和在线搜索在关键时刻不可依赖。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74951AE-D81A-450E-9052-B4F2D737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2000250" cy="37338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01912"/>
          </a:solidFill>
          <a:ln xmlns:a="http://schemas.openxmlformats.org/drawingml/2006/main" w="19050">
            <a:solidFill>
              <a:srgbClr val="122419">
                <a:alpha val="6500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D14FB45-402C-4FA5-99B3-08C9A3C9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371600"/>
            <a:ext cx="1771650" cy="3295650"/>
          </a:xfrm>
          <a:prstGeom xmlns:a="http://schemas.openxmlformats.org/drawingml/2006/main" prst="roundRect">
            <a:avLst>
              <a:gd name="adj" fmla="val 10753"/>
            </a:avLst>
          </a:prstGeom>
          <a:solidFill xmlns:a="http://schemas.openxmlformats.org/drawingml/2006/main">
            <a:srgbClr val="1A2B1D"/>
          </a:solidFill>
          <a:ln xmlns:a="http://schemas.openxmlformats.org/drawingml/2006/main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AC9E7E8-A212-46B9-BFE7-CFA039C0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1219200"/>
            <a:ext cx="6096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2C24"/>
          </a:solidFill>
          <a:ln xmlns:a="http://schemas.openxmlformats.org/drawingml/2006/main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D09BC60-BC92-4745-B9FB-5F91785A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485900"/>
            <a:ext cx="1581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Outdoor Tools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B83525C-3CE3-4E02-B5C7-688AF787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90700"/>
            <a:ext cx="1428750" cy="904875"/>
          </a:xfrm>
          <a:prstGeom xmlns:a="http://schemas.openxmlformats.org/drawingml/2006/main" prst="roundRect">
            <a:avLst>
              <a:gd name="adj" fmla="val 14737"/>
            </a:avLst>
          </a:prstGeom>
          <a:solidFill xmlns:a="http://schemas.openxmlformats.org/drawingml/2006/main">
            <a:srgbClr val="FFFDF4">
              <a:alpha val="8000"/>
            </a:srgbClr>
          </a:solidFill>
          <a:ln xmlns:a="http://schemas.openxmlformats.org/drawingml/2006/main"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A5030C0-0C16-4A25-A039-BFFB44FB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905000"/>
            <a:ext cx="1200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工具入口很多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8C097EC-7D40-4350-A828-F81E699A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219325"/>
            <a:ext cx="12001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DE8D6"/>
                </a:solidFill>
                <a:latin typeface="Avenir Next"/>
                <a:ea typeface="Avenir Next"/>
                <a:cs typeface="Avenir Next"/>
              </a:defRPr>
            </a:pPr>
            <a:r>
              <a:t>导航 / 天气 / 路径</a:t>
            </a:r>
          </a:p>
          <a:p xmlns:a="http://schemas.openxmlformats.org/drawingml/2006/main">
            <a:pPr algn="l">
              <a:defRPr sz="788" b="0">
                <a:solidFill>
                  <a:srgbClr val="DDE8D6"/>
                </a:solidFill>
                <a:latin typeface="Avenir Next"/>
                <a:ea typeface="Avenir Next"/>
                <a:cs typeface="Avenir Next"/>
              </a:defRPr>
            </a:pPr>
            <a:r>
              <a:t>信标 / SOS / 指南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B195E2D-A139-482B-ABA8-CD793B51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33700"/>
            <a:ext cx="6286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4">
              <a:alpha val="8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30C5063-4C99-47BF-B040-D2EAF181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33700"/>
            <a:ext cx="6286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地图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A4D03B2-63A6-4E79-AAE1-DC91827D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33700"/>
            <a:ext cx="6286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4">
              <a:alpha val="8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8FDEF25-339C-4085-B1F0-A2B99B73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33700"/>
            <a:ext cx="6286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气压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CC4E089-8787-4F7D-ABAB-6E537CB1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29000"/>
            <a:ext cx="6286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4">
              <a:alpha val="8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9459483-B6F4-4733-9C17-59DB9A9D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29000"/>
            <a:ext cx="6286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信标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EC160B3-1746-4639-8A2A-B922D784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29000"/>
            <a:ext cx="6286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4">
              <a:alpha val="8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3545A52-ED9F-45EE-B1EC-6951B22E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29000"/>
            <a:ext cx="6286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指南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F2B028A-0941-4FB4-B4E3-20092F81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629150"/>
            <a:ext cx="2667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3A33"/>
          </a:solidFill>
          <a:ln xmlns:a="http://schemas.openxmlformats.org/drawingml/2006/main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3FBE082-F250-4854-AD6D-5C639545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19700"/>
            <a:ext cx="371475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46683B"/>
          </a:solidFill>
          <a:ln xmlns:a="http://schemas.openxmlformats.org/drawingml/2006/main" w="9525">
            <a:solidFill>
              <a:srgbClr val="46683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B5EDC13-BE30-4C57-9233-BB11DFC0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353050"/>
            <a:ext cx="32956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户外真正的困难，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是工具多、读数复杂、场景紧急、网络不可依赖。</a:t>
            </a:r>
          </a:p>
        </p:txBody>
      </p:sp>
    </p:spTree>
    <p:extLst>
      <p:ext uri="{BB962C8B-B14F-4D97-AF65-F5344CB8AC3E}">
        <p14:creationId xmlns:p14="http://schemas.microsoft.com/office/powerpoint/2010/main" val="9543582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1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2B566F-FE6A-47E6-80EC-F56263A0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DF4"/>
              </a:gs>
              <a:gs pos="62000">
                <a:srgbClr val="F4EDDE"/>
              </a:gs>
              <a:gs pos="100000">
                <a:srgbClr val="E6E2D0"/>
              </a:gs>
            </a:gsLst>
            <a:lin ang="9000000"/>
          </a:gradFill>
          <a:ln xmlns:a="http://schemas.openxmlformats.org/drawingml/2006/main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3D4916-6005-4417-996D-31D94B61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37147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683B">
              <a:alpha val="6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9A96B2-F350-4CDA-B6B1-1785681C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8625"/>
            <a:ext cx="285750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816D13-BBEC-4C4E-9235-5CDF2373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657225"/>
            <a:ext cx="2133600" cy="1352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1872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328687-5BAF-437B-87C9-B3CFC89E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923925"/>
            <a:ext cx="129540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143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C81830-6D49-4061-9E23-8250BC99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333500"/>
            <a:ext cx="27622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16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42FC9A-DECC-4DDE-8911-EA943EEE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1562100"/>
            <a:ext cx="2038350" cy="1352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1152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2ADD9A-6CDA-4A5D-ADCE-B6D2C2C31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1828800"/>
            <a:ext cx="1200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88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CFEF36-F490-404F-B058-80E2436B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219700"/>
            <a:ext cx="285750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14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00D8C5-9A98-4D56-8D9E-98692F2A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448300"/>
            <a:ext cx="213360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1008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714946-2312-4812-820C-761EFA86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5715000"/>
            <a:ext cx="129540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77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F573BA-99A5-48C0-81E2-F117BC26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86375"/>
            <a:ext cx="4632960" cy="1343406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1865C">
              <a:alpha val="18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52A0EE-9481-4863-BC9C-C1E59418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48250"/>
            <a:ext cx="5120640" cy="1638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1865C">
              <a:alpha val="18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D13AEB-9E8F-4C40-A6DB-7B1B25D0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219700"/>
            <a:ext cx="5364480" cy="147447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1865C">
              <a:alpha val="18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704B8E-48D6-4A74-AE7E-51B54B6E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53000"/>
            <a:ext cx="4267200" cy="1638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8764D">
              <a:alpha val="24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B86716-55A1-4A31-9AFF-05A7209D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5852160" cy="1638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8764D">
              <a:alpha val="24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7593D9-8E90-4259-BFF4-FC8B6DB0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98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>
              <a:alpha val="75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9C9310-B1ED-4E76-9FCA-645B9070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71450"/>
            <a:ext cx="533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3F22"/>
          </a:solidFill>
          <a:ln xmlns:a="http://schemas.openxmlformats.org/drawingml/2006/main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B8FB70-6690-4735-B814-CE0B6CEF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"/>
            <a:ext cx="533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C58B55-2C04-4F43-A141-69CCC6F0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"/>
            <a:ext cx="8382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完整产品：成熟离线户外工具箱</a:t>
            </a:r>
          </a:p>
          <a:p xmlns:a="http://schemas.openxmlformats.org/drawingml/2006/main">
            <a:pPr algn="l">
              <a:defRPr sz="2250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+ AI 操作层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2E1E68-96BD-4CAF-93B8-AB70ABAC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76350"/>
            <a:ext cx="3143250" cy="40386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4">
              <a:alpha val="88000"/>
            </a:srgbClr>
          </a:solidFill>
          <a:ln xmlns:a="http://schemas.openxmlformats.org/drawingml/2006/main" w="9525">
            <a:solidFill>
              <a:srgbClr val="46683B">
                <a:alpha val="45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5EFA36-9212-4F95-8D6C-9A2B8037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3143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原有能力（成熟离线）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749AEA-4A92-4CF8-8A40-054D4A37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683B"/>
          </a:solidFill>
          <a:ln xmlns:a="http://schemas.openxmlformats.org/drawingml/2006/main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5A0BCE-C9F6-4EDE-96F6-8ECEAD6E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76425"/>
            <a:ext cx="381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20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1923B2-CE1C-47D3-9F3E-0A13A524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828800"/>
            <a:ext cx="2000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导航与定位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786619-77A9-47DF-988A-87558681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955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指南针、路线、位置、航向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FC5129-F388-4AB6-953A-8B9D49A7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683B"/>
          </a:solidFill>
          <a:ln xmlns:a="http://schemas.openxmlformats.org/drawingml/2006/main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23935F-7433-4BA6-B103-2A5F1475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57475"/>
            <a:ext cx="381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20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872A0B-7E1F-48F1-84E0-7FFEC014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09850"/>
            <a:ext cx="2000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天气与环境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798F21-BD6B-48FE-98A9-296470D2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7655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天气预报、气压、风向、云层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ABCBD6-889A-4715-B02E-D2E8C37C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683B"/>
          </a:solidFill>
          <a:ln xmlns:a="http://schemas.openxmlformats.org/drawingml/2006/main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478D4A-22E9-4761-82FD-6199A916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38525"/>
            <a:ext cx="381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20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B7005B-D25E-42CA-B140-B883D3DB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90900"/>
            <a:ext cx="2000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生存与应急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892446-8B58-44E4-AE75-2E3DA246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576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信标、SOS、哨子、急救指南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04B3BC-1727-4D8E-BA0A-79643191B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683B"/>
          </a:solidFill>
          <a:ln xmlns:a="http://schemas.openxmlformats.org/drawingml/2006/main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FB4C9D8-CA16-4AF6-86F8-FC79B09D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9575"/>
            <a:ext cx="381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20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4E8502-F8E6-4634-824C-3D675F0B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71950"/>
            <a:ext cx="2000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天文与时间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8EB8423-BDFA-4427-AC47-0BE0846B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3865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日出日落、月相、时间工具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CE0EA1-82BE-4C3D-856C-F3F68FF4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390650"/>
            <a:ext cx="1943100" cy="3695700"/>
          </a:xfrm>
          <a:prstGeom xmlns:a="http://schemas.openxmlformats.org/drawingml/2006/main" prst="roundRect">
            <a:avLst>
              <a:gd name="adj" fmla="val 13725"/>
            </a:avLst>
          </a:prstGeom>
          <a:solidFill xmlns:a="http://schemas.openxmlformats.org/drawingml/2006/main">
            <a:srgbClr val="101912"/>
          </a:solidFill>
          <a:ln xmlns:a="http://schemas.openxmlformats.org/drawingml/2006/main" w="19050">
            <a:solidFill>
              <a:srgbClr val="122419">
                <a:alpha val="6500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6815B13-235F-47DC-9514-135C914D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638300"/>
            <a:ext cx="1714500" cy="32575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A2B1D"/>
          </a:solidFill>
          <a:ln xmlns:a="http://schemas.openxmlformats.org/drawingml/2006/main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A9352C5-95B3-45E4-9AD4-FA683E652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485900"/>
            <a:ext cx="6096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2C24"/>
          </a:solidFill>
          <a:ln xmlns:a="http://schemas.openxmlformats.org/drawingml/2006/main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8FB2432-D214-4FB2-BD06-8BC7B7B5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52600"/>
            <a:ext cx="152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Trail Sense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431AD37-92AB-4960-8D79-760543C6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57400"/>
            <a:ext cx="1371600" cy="904875"/>
          </a:xfrm>
          <a:prstGeom xmlns:a="http://schemas.openxmlformats.org/drawingml/2006/main" prst="roundRect">
            <a:avLst>
              <a:gd name="adj" fmla="val 14737"/>
            </a:avLst>
          </a:prstGeom>
          <a:solidFill xmlns:a="http://schemas.openxmlformats.org/drawingml/2006/main">
            <a:srgbClr val="FFFDF4">
              <a:alpha val="8000"/>
            </a:srgbClr>
          </a:solidFill>
          <a:ln xmlns:a="http://schemas.openxmlformats.org/drawingml/2006/main"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70757B4-D762-49CE-8CFD-21925593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1717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完整户外 App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56831DE-C7A3-4C5D-85FD-F9FDEC82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486025"/>
            <a:ext cx="1143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DE8D6"/>
                </a:solidFill>
                <a:latin typeface="Avenir Next"/>
                <a:ea typeface="Avenir Next"/>
                <a:cs typeface="Avenir Next"/>
              </a:defRPr>
            </a:pPr>
            <a:r>
              <a:t>地图 / 天气 / 工具</a:t>
            </a:r>
          </a:p>
          <a:p xmlns:a="http://schemas.openxmlformats.org/drawingml/2006/main">
            <a:pPr algn="l">
              <a:defRPr sz="788" b="0">
                <a:solidFill>
                  <a:srgbClr val="DDE8D6"/>
                </a:solidFill>
                <a:latin typeface="Avenir Next"/>
                <a:ea typeface="Avenir Next"/>
                <a:cs typeface="Avenir Next"/>
              </a:defRPr>
            </a:pPr>
            <a:r>
              <a:t>全部本地可用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AA2AD83-218B-4C2F-8312-3D8D2A90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00400"/>
            <a:ext cx="600075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4">
              <a:alpha val="8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59C8945-01AF-4A58-856D-4D313A8B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00400"/>
            <a:ext cx="60007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导航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92D632C-7358-4F16-A6FB-1D1BD6AA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200400"/>
            <a:ext cx="600075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4">
              <a:alpha val="8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9FC39A6-679C-4220-B99B-D446C4B0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200400"/>
            <a:ext cx="60007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路径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8701ADB-B8CB-4900-AD39-7BCF3C9D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95700"/>
            <a:ext cx="600075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4">
              <a:alpha val="8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301A411-9420-42E5-99B6-290964DC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95700"/>
            <a:ext cx="60007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天气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89B8B8D-DA03-4A1A-BD7E-6C409288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695700"/>
            <a:ext cx="600075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4">
              <a:alpha val="8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29AE84B-6A1D-453A-B0EA-5BD13B0C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695700"/>
            <a:ext cx="60007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信标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048E9DD-7441-4188-B61E-4EF26802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857750"/>
            <a:ext cx="2667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3A33"/>
          </a:solidFill>
          <a:ln xmlns:a="http://schemas.openxmlformats.org/drawingml/2006/main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B25E6DD-0C9D-48AB-957E-8232ABD7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200150"/>
            <a:ext cx="3429000" cy="42862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DF4">
              <a:alpha val="88000"/>
            </a:srgbClr>
          </a:solidFill>
          <a:ln xmlns:a="http://schemas.openxmlformats.org/drawingml/2006/main" w="9525">
            <a:solidFill>
              <a:srgbClr val="46683B">
                <a:alpha val="4500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ED6D686-6505-455F-91E0-27E18D017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52550"/>
            <a:ext cx="3429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新增能力（AI 操作层）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AC47893-5C1C-49A7-82BA-2990E6DA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683B"/>
          </a:solidFill>
          <a:ln xmlns:a="http://schemas.openxmlformats.org/drawingml/2006/main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DFACE8C-A33C-475B-8AF3-B5449003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62125"/>
            <a:ext cx="361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69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1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68A5720-9C7E-4BB9-87D3-BED625B0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7145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自然语言入口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AA61261-E9E2-430A-923E-DDBA7DF3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962150"/>
            <a:ext cx="2266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用户用问题表达目标和问题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B755F6C-B811-497D-BE74-DE273541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19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22"/>
          </a:solidFill>
          <a:ln xmlns:a="http://schemas.openxmlformats.org/drawingml/2006/main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DB861E9-5C33-41C6-AAA1-CEDD5375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28875"/>
            <a:ext cx="361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69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2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6569F01-3BE3-48C3-A169-7E5EB65D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8125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Gemma 4 本地推理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4AC6109-FFAB-4912-916A-C19DEA07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28900"/>
            <a:ext cx="2266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端侧理解、推理与决策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93A4181-944E-40D5-9816-CA3F7A4F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86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683B"/>
          </a:solidFill>
          <a:ln xmlns:a="http://schemas.openxmlformats.org/drawingml/2006/main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ACF0CDA-A394-4300-B633-D9E6D34B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95625"/>
            <a:ext cx="361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69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3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4CFD5AA-1BF5-4196-93B6-3808C8BE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Agent Skill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638ECBE-905E-4F70-817C-47CB5D22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95650"/>
            <a:ext cx="2266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任务到工具的流程编排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D616714-974A-49B0-947D-AB23CAFE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683B"/>
          </a:solidFill>
          <a:ln xmlns:a="http://schemas.openxmlformats.org/drawingml/2006/main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091DF31-FFDE-48E9-B725-AE630845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62375"/>
            <a:ext cx="361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69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4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9F9BA0D-48B1-4214-AAAB-A8F4C178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1475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Native Function Calling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BE93572-911E-4259-8AFF-2820D0EF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62400"/>
            <a:ext cx="2266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调用本地工具能力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9D5EE00-9FE5-426A-97F0-361E6722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19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683B"/>
          </a:solidFill>
          <a:ln xmlns:a="http://schemas.openxmlformats.org/drawingml/2006/main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D00AC38-7051-46EB-88BB-9EEF2F6E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29125"/>
            <a:ext cx="361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69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5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6F06D65-B2B8-46E4-85F5-2B5AF037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815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图片输入与行动卡片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2C17C60-F973-4B43-A086-131538D5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629150"/>
            <a:ext cx="2266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多模态理解与建议输出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81FBA4B-F911-4408-BD10-3F16CA28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905500"/>
            <a:ext cx="9334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6683B"/>
          </a:solidFill>
          <a:ln xmlns:a="http://schemas.openxmlformats.org/drawingml/2006/main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FDF03CE-C82E-45E6-93E6-A8DAB30A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915025"/>
            <a:ext cx="88773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AI 不替代原工具，而是把原工具组织成更低成本的户外任务流程。</a:t>
            </a:r>
          </a:p>
        </p:txBody>
      </p:sp>
    </p:spTree>
    <p:extLst>
      <p:ext uri="{BB962C8B-B14F-4D97-AF65-F5344CB8AC3E}">
        <p14:creationId xmlns:p14="http://schemas.microsoft.com/office/powerpoint/2010/main" val="3470671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1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CFDE17-A5B6-40D6-829A-0CDF49E7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DF4"/>
              </a:gs>
              <a:gs pos="62000">
                <a:srgbClr val="F4EDDE"/>
              </a:gs>
              <a:gs pos="100000">
                <a:srgbClr val="E6E2D0"/>
              </a:gs>
            </a:gsLst>
            <a:lin ang="9000000"/>
          </a:gradFill>
          <a:ln xmlns:a="http://schemas.openxmlformats.org/drawingml/2006/main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CDF89F-3348-460A-8367-177EB205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37147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683B">
              <a:alpha val="6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32D047-1EDB-4319-8742-7ACB7629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8625"/>
            <a:ext cx="285750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B93139-F19C-4EF5-BC0E-075439A4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657225"/>
            <a:ext cx="2133600" cy="1352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1872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C1DA95-EA71-49CB-83B2-CCC8A318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923925"/>
            <a:ext cx="129540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143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6F76D6-7E2F-4201-AD70-BD88B672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333500"/>
            <a:ext cx="27622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16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A44FF4-33F5-4151-8247-47808FD4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1562100"/>
            <a:ext cx="2038350" cy="1352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1152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3889B5-4C08-4B7F-BDD6-F685C926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1828800"/>
            <a:ext cx="1200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88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215958-FAA7-444A-ACBF-905C20F50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219700"/>
            <a:ext cx="285750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14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A12E68-7C2B-444C-ACCD-7AF08BF4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448300"/>
            <a:ext cx="213360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1008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B4CFD5-4205-415F-B696-40C4FFCD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5715000"/>
            <a:ext cx="129540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77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813C4B-4B58-4E43-8ACA-885FC577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86375"/>
            <a:ext cx="4632960" cy="1343406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1865C">
              <a:alpha val="18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467166-E57C-46CD-A732-42EC89FF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48250"/>
            <a:ext cx="5120640" cy="1638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1865C">
              <a:alpha val="18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D5A6B8-93D4-419C-95C7-93499926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219700"/>
            <a:ext cx="5364480" cy="147447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1865C">
              <a:alpha val="18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B71321-3F0C-4B92-9834-93DD6F0E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53000"/>
            <a:ext cx="4267200" cy="1638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8764D">
              <a:alpha val="24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16029D-5B76-49A8-B5FE-EA2DC74E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5852160" cy="1638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8764D">
              <a:alpha val="24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1AB516-5FB4-452B-B2F8-457CBA69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98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>
              <a:alpha val="75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D11D36-4479-426F-95B5-915E357A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71450"/>
            <a:ext cx="533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3F22"/>
          </a:solidFill>
          <a:ln xmlns:a="http://schemas.openxmlformats.org/drawingml/2006/main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A24DDB-DC92-47F2-AD06-8482D132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"/>
            <a:ext cx="533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7DC569-C6B8-47E0-ABAA-150CD194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"/>
            <a:ext cx="685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用户说目标，Trail Sense</a:t>
            </a:r>
          </a:p>
          <a:p xmlns:a="http://schemas.openxmlformats.org/drawingml/2006/main">
            <a:pPr algn="l">
              <a:defRPr sz="2100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组织工具、解释读数、准备动作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C6108B-6D65-4E3B-B292-525D2862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57300"/>
            <a:ext cx="4762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DF4">
              <a:alpha val="88000"/>
            </a:srgbClr>
          </a:solidFill>
          <a:ln xmlns:a="http://schemas.openxmlformats.org/drawingml/2006/main" w="9525">
            <a:solidFill>
              <a:srgbClr val="46683B">
                <a:alpha val="45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D1E5C3-64CF-4AE2-AA1B-1315351C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409700"/>
            <a:ext cx="1066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示例问题：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F0852A-4240-4427-BF4A-B3FCBDFD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57350"/>
            <a:ext cx="409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"我迷路了，手机没信号怎么办？"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B6FC2E-8D0B-4C1C-AE49-11A7F6A3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4762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4">
              <a:alpha val="88000"/>
            </a:srgbClr>
          </a:solidFill>
          <a:ln xmlns:a="http://schemas.openxmlformats.org/drawingml/2006/main" w="9525">
            <a:solidFill>
              <a:srgbClr val="46683B">
                <a:alpha val="45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51D91E-BC1D-432C-8F94-3206F391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683B"/>
          </a:solidFill>
          <a:ln xmlns:a="http://schemas.openxmlformats.org/drawingml/2006/main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59E3B0-6A4D-4BE6-94D7-F9A7B45B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05075"/>
            <a:ext cx="361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69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62FECD-7DA1-4063-BAD4-27D9E787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05075"/>
            <a:ext cx="401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AI 识别意图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50C30E-F8F6-4E74-BA0E-057258A4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19400"/>
            <a:ext cx="4019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迷路、无信号，需要定位和求救。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48069B-CC9F-4217-BF29-26C235CA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762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4">
              <a:alpha val="88000"/>
            </a:srgbClr>
          </a:solidFill>
          <a:ln xmlns:a="http://schemas.openxmlformats.org/drawingml/2006/main" w="9525">
            <a:solidFill>
              <a:srgbClr val="46683B">
                <a:alpha val="4500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A45C09-0B24-4EC4-8BFD-606C3B0B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865C"/>
          </a:solidFill>
          <a:ln xmlns:a="http://schemas.openxmlformats.org/drawingml/2006/main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458C71-CB89-47CB-BB87-A0522F21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19475"/>
            <a:ext cx="361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69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CB3B59-B6B7-49A4-9B47-93F8915A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19475"/>
            <a:ext cx="401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工具组合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58F5A3-A547-4A0A-A66B-584DBF32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33800"/>
            <a:ext cx="4019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导航、路径、信标、离线地图、SOS、哨子。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73FE6B-EF83-4DE1-B96A-84269414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4762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4">
              <a:alpha val="88000"/>
            </a:srgbClr>
          </a:solidFill>
          <a:ln xmlns:a="http://schemas.openxmlformats.org/drawingml/2006/main" w="9525">
            <a:solidFill>
              <a:srgbClr val="46683B">
                <a:alpha val="45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0CB721-1696-441C-933A-FF36E9C9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8A4B"/>
          </a:solidFill>
          <a:ln xmlns:a="http://schemas.openxmlformats.org/drawingml/2006/main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C1C9A9-500F-4707-A716-FC79BECE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33875"/>
            <a:ext cx="361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69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6E16E3-FE5A-4985-B5B1-B35D01EF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33875"/>
            <a:ext cx="401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输出形态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0CE154C-0964-491E-ABC6-3C1F16F6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48200"/>
            <a:ext cx="4019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行动卡片、工具入口、解释性建议、安全提示。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4AFD19B-AE2D-4B84-A2FF-9EB9C686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990600"/>
            <a:ext cx="2190750" cy="4191000"/>
          </a:xfrm>
          <a:prstGeom xmlns:a="http://schemas.openxmlformats.org/drawingml/2006/main" prst="roundRect">
            <a:avLst>
              <a:gd name="adj" fmla="val 12174"/>
            </a:avLst>
          </a:prstGeom>
          <a:solidFill xmlns:a="http://schemas.openxmlformats.org/drawingml/2006/main">
            <a:srgbClr val="101912"/>
          </a:solidFill>
          <a:ln xmlns:a="http://schemas.openxmlformats.org/drawingml/2006/main" w="19050">
            <a:solidFill>
              <a:srgbClr val="122419">
                <a:alpha val="6500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2440797-4094-45F0-AAD4-F7DF32D5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238250"/>
            <a:ext cx="1962150" cy="3752850"/>
          </a:xfrm>
          <a:prstGeom xmlns:a="http://schemas.openxmlformats.org/drawingml/2006/main" prst="roundRect">
            <a:avLst>
              <a:gd name="adj" fmla="val 9709"/>
            </a:avLst>
          </a:prstGeom>
          <a:solidFill xmlns:a="http://schemas.openxmlformats.org/drawingml/2006/main">
            <a:srgbClr val="1A2B1D"/>
          </a:solidFill>
          <a:ln xmlns:a="http://schemas.openxmlformats.org/drawingml/2006/main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BCF4089-C366-4C20-88F9-9AB7DF36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1085850"/>
            <a:ext cx="6096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2C24"/>
          </a:solidFill>
          <a:ln xmlns:a="http://schemas.openxmlformats.org/drawingml/2006/main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70C027A-6AAF-493B-91E8-6E332DD2B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352550"/>
            <a:ext cx="1771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Trail Sense AI Assistant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8895586-332B-4799-9BB7-63DAEC62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57350"/>
            <a:ext cx="1619250" cy="904875"/>
          </a:xfrm>
          <a:prstGeom xmlns:a="http://schemas.openxmlformats.org/drawingml/2006/main" prst="roundRect">
            <a:avLst>
              <a:gd name="adj" fmla="val 14737"/>
            </a:avLst>
          </a:prstGeom>
          <a:solidFill xmlns:a="http://schemas.openxmlformats.org/drawingml/2006/main">
            <a:srgbClr val="FFFDF4">
              <a:alpha val="8000"/>
            </a:srgbClr>
          </a:solidFill>
          <a:ln xmlns:a="http://schemas.openxmlformats.org/drawingml/2006/main"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4FF211F-587C-41B4-AFE5-E39418FE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71650"/>
            <a:ext cx="1390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我迷路了，手机没信号怎么办？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71EF020-441B-4529-8E93-BAA77B73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85975"/>
            <a:ext cx="13906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DE8D6"/>
                </a:solidFill>
                <a:latin typeface="Avenir Next"/>
                <a:ea typeface="Avenir Next"/>
                <a:cs typeface="Avenir Next"/>
              </a:defRPr>
            </a:pPr>
            <a:r>
              <a:t>建议先保存当前位置</a:t>
            </a:r>
          </a:p>
          <a:p xmlns:a="http://schemas.openxmlformats.org/drawingml/2006/main">
            <a:pPr algn="l">
              <a:defRPr sz="788" b="0">
                <a:solidFill>
                  <a:srgbClr val="DDE8D6"/>
                </a:solidFill>
                <a:latin typeface="Avenir Next"/>
                <a:ea typeface="Avenir Next"/>
                <a:cs typeface="Avenir Next"/>
              </a:defRPr>
            </a:pPr>
            <a:r>
              <a:t>再使用信标和 SOS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498B756-CD14-4F91-9D2C-0ECC8FC9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00350"/>
            <a:ext cx="72390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4">
              <a:alpha val="8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221F9A3-5393-4C02-A580-A5838A96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00350"/>
            <a:ext cx="7239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指南针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4AFF4A0-758C-45F5-9D7E-E7785D68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00350"/>
            <a:ext cx="72390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4">
              <a:alpha val="8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69B2D9A-DB4E-436A-8706-1117EE3A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00350"/>
            <a:ext cx="7239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路径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96987E4-BB63-448F-8A02-B2A81F95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95650"/>
            <a:ext cx="72390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4">
              <a:alpha val="8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5891E5A-58A2-4A79-B149-DA366D0B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95650"/>
            <a:ext cx="7239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SOS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2FC6589-9EDC-405C-B455-D5375BCA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95650"/>
            <a:ext cx="72390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4">
              <a:alpha val="8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543E489-8AF1-4321-8681-D9DC0D34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95650"/>
            <a:ext cx="7239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哨子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9F73735-67B1-4112-A53F-F63D0AA0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953000"/>
            <a:ext cx="2667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3A33"/>
          </a:solidFill>
          <a:ln xmlns:a="http://schemas.openxmlformats.org/drawingml/2006/main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B10114D-EE0F-48E3-B49A-2CBF1A8EC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924550"/>
            <a:ext cx="7810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6683B"/>
          </a:solidFill>
          <a:ln xmlns:a="http://schemas.openxmlformats.org/drawingml/2006/main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28B9167-278E-429E-985C-3789B973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934075"/>
            <a:ext cx="73533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AI 解决的是工具发现、读数解释和行动组织，而不是泛泛聊天。</a:t>
            </a:r>
          </a:p>
        </p:txBody>
      </p:sp>
    </p:spTree>
    <p:extLst>
      <p:ext uri="{BB962C8B-B14F-4D97-AF65-F5344CB8AC3E}">
        <p14:creationId xmlns:p14="http://schemas.microsoft.com/office/powerpoint/2010/main" val="1804322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1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94B3E2-D1FE-43B8-9AEE-209B26FB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DF4"/>
              </a:gs>
              <a:gs pos="62000">
                <a:srgbClr val="F4EDDE"/>
              </a:gs>
              <a:gs pos="100000">
                <a:srgbClr val="E6E2D0"/>
              </a:gs>
            </a:gsLst>
            <a:lin ang="9000000"/>
          </a:gradFill>
          <a:ln xmlns:a="http://schemas.openxmlformats.org/drawingml/2006/main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ED8232-1F57-464F-B57E-1E5D1CF0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37147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683B">
              <a:alpha val="6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C333FF-41E4-4A93-92F3-56D28725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8625"/>
            <a:ext cx="285750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5953AF-D3C2-4F34-8A12-47508403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657225"/>
            <a:ext cx="2133600" cy="1352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1872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BC47B4-EC3E-40AD-B304-38973A7B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923925"/>
            <a:ext cx="129540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143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DEB17B-6A92-489A-A08C-80EFEA3E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333500"/>
            <a:ext cx="27622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16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93CF66-77C4-46C6-9B22-298EDEE2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1562100"/>
            <a:ext cx="2038350" cy="1352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1152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A639C2-B523-46E0-86EB-8D6503B3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1828800"/>
            <a:ext cx="1200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88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7EB8CB-2A3C-4C54-93D6-DDD00567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219700"/>
            <a:ext cx="285750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14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ABBD73-8C7B-4714-B4C3-51662F23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448300"/>
            <a:ext cx="213360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1008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C1A395-5F18-46F7-BD76-03AB484B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5715000"/>
            <a:ext cx="129540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77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25C07D-8BB4-4211-97FF-D845D6A2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71450"/>
            <a:ext cx="533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3F22"/>
          </a:solidFill>
          <a:ln xmlns:a="http://schemas.openxmlformats.org/drawingml/2006/main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564635-455B-4D14-A529-2BBE45A27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"/>
            <a:ext cx="533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05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5C1FC4-A796-45CC-883D-394CC70A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"/>
            <a:ext cx="7715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端侧架构：Gemma 4 本地推理</a:t>
            </a:r>
          </a:p>
          <a:p xmlns:a="http://schemas.openxmlformats.org/drawingml/2006/main">
            <a:pPr algn="l">
              <a:defRPr sz="2175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接入 Trail Sense 工具调用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44B711-CE5F-45B3-9525-63819429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9677400" cy="382905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FFDF4">
              <a:alpha val="88000"/>
            </a:srgbClr>
          </a:solidFill>
          <a:ln xmlns:a="http://schemas.openxmlformats.org/drawingml/2006/main" w="9525">
            <a:solidFill>
              <a:srgbClr val="46683B">
                <a:alpha val="45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538B7F-9F4D-4B28-BE99-C607F1AC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049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683B"/>
          </a:solidFill>
          <a:ln xmlns:a="http://schemas.openxmlformats.org/drawingml/2006/main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4BE8CC-EE88-4708-B925-A4486E5B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14475"/>
            <a:ext cx="342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18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51FD04-33AF-4476-9500-1334810A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485900"/>
            <a:ext cx="1047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输入层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4E95AE-5AAB-4CA3-BA3E-571F4442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14097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83B">
              <a:alpha val="25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6CE9E4-B140-40B1-819D-D8B071E1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485900"/>
            <a:ext cx="4953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文字、图片、App 上下文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3B8270-38C1-41E1-A696-D76897DD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38350"/>
            <a:ext cx="895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83B">
              <a:alpha val="18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BE5525-9656-4F8E-A887-B764405D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683B"/>
          </a:solidFill>
          <a:ln xmlns:a="http://schemas.openxmlformats.org/drawingml/2006/main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8E3B66-057A-48FB-A74E-9C78711A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0275"/>
            <a:ext cx="342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18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352473-675D-484B-A775-42934027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171700"/>
            <a:ext cx="1047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AI 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36C633-BBA0-4F70-B442-E1BF0B62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0955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83B">
              <a:alpha val="25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4C0466-B8E0-4F3A-9E19-52A6036C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71700"/>
            <a:ext cx="4953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AI Assistant UI、Prompt Builder、工具知识库、Skill 知识库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DAED78-8C51-475C-8496-7B4882B8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895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83B">
              <a:alpha val="18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E8D5B1-AE22-48E3-8FA3-6A770D1D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22"/>
          </a:solidFill>
          <a:ln xmlns:a="http://schemas.openxmlformats.org/drawingml/2006/main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A2CC2A-2A7A-4231-AAB6-B31C6754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6075"/>
            <a:ext cx="342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18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7B3546-482D-4C53-97C9-64403378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857500"/>
            <a:ext cx="1047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推理层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137F5C-3474-4BAC-B059-E8D797F0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7813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83B">
              <a:alpha val="25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34EEF5-7880-4899-BBAE-42F71D5E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57500"/>
            <a:ext cx="4953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Gemma 4 本地 LLM、LiteRT-LM Runtime、模型管理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890FAA-1FEB-4B59-AC0F-F4CAAFF5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09950"/>
            <a:ext cx="895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83B">
              <a:alpha val="18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DB9917-2FA0-4601-8643-ADAA62FE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683B"/>
          </a:solidFill>
          <a:ln xmlns:a="http://schemas.openxmlformats.org/drawingml/2006/main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33F1477-5857-41E3-8FBD-188124ED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342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18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2DE6A0-A8C7-4AB9-94DD-6324DC88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43300"/>
            <a:ext cx="1047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调用层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AD2431-BC20-40C9-9FE8-CCF63309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4671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83B">
              <a:alpha val="25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19EE4F-B664-4DA3-8BBF-D4866A86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543300"/>
            <a:ext cx="4953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Native Function Calling、Tool Runner、本地工具执行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CA4AC40-01E2-4F0E-BAD4-6F3A4A65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895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83B">
              <a:alpha val="18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1C3317D-E90A-4E4C-A164-D6D3AFFB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8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683B"/>
          </a:solidFill>
          <a:ln xmlns:a="http://schemas.openxmlformats.org/drawingml/2006/main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4E1204D-BF7B-4FBB-9F60-DB6E0C95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57675"/>
            <a:ext cx="342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18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65BC2B5-FE77-4972-AD2C-D1522624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229100"/>
            <a:ext cx="1047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执行层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D4D9C55-8D91-4CD9-B237-C27AC830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1529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83B">
              <a:alpha val="25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85E4400-5A9D-4177-8C19-B106346F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229100"/>
            <a:ext cx="4953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Trail Sense 本地工具：导航、天气、路径、SOS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B53E926-5D17-4DD6-BE8C-F62D58809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FD1DA71-BEA0-49A2-A814-EE84F14B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28950"/>
            <a:ext cx="1428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46683B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LiteRT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A663123-D7AF-4CDC-93C9-87AFA78D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43300"/>
            <a:ext cx="142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端侧运行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EBDA1D0-DE1D-463E-83E2-E7176200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9677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6683B"/>
          </a:solidFill>
          <a:ln xmlns:a="http://schemas.openxmlformats.org/drawingml/2006/main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4B46710-76B7-47A1-937D-0CBFD503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91175"/>
            <a:ext cx="92202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数据边界：模型、推理、上下文、历史记录和图片输入主要留在端侧；网络只用于模型下载等必要环节。</a:t>
            </a:r>
          </a:p>
        </p:txBody>
      </p:sp>
    </p:spTree>
    <p:extLst>
      <p:ext uri="{BB962C8B-B14F-4D97-AF65-F5344CB8AC3E}">
        <p14:creationId xmlns:p14="http://schemas.microsoft.com/office/powerpoint/2010/main" val="13602392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1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240536-C65F-404C-9C69-D737794A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DF4"/>
              </a:gs>
              <a:gs pos="62000">
                <a:srgbClr val="F4EDDE"/>
              </a:gs>
              <a:gs pos="100000">
                <a:srgbClr val="E6E2D0"/>
              </a:gs>
            </a:gsLst>
            <a:lin ang="9000000"/>
          </a:gradFill>
          <a:ln xmlns:a="http://schemas.openxmlformats.org/drawingml/2006/main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6E984F-024D-4D0E-88F2-F1D127D1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37147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683B">
              <a:alpha val="6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899A60-EB53-4A58-A56B-381EE456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8625"/>
            <a:ext cx="285750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DC0E2B-A981-4AD9-B930-9A5FEE44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657225"/>
            <a:ext cx="2133600" cy="1352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1872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13EC5F-B8E7-4D8D-BF10-AF7EF5BD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923925"/>
            <a:ext cx="129540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143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D89238-6E5D-4AF6-BE26-F4442C4E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333500"/>
            <a:ext cx="27622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16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0DB76F-17A4-42E1-8697-024EB8F8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1562100"/>
            <a:ext cx="2038350" cy="1352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1152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5DF354-FA6A-47FA-A4A3-3A454E1A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1828800"/>
            <a:ext cx="1200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88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578EED-00AA-410C-992C-352CC0E0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219700"/>
            <a:ext cx="285750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14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DD8E43-4DD9-4F94-944B-65404B7B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448300"/>
            <a:ext cx="213360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1008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F093C4-B788-4D2E-BE09-BE05FE92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5715000"/>
            <a:ext cx="129540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77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13D3C8-744A-46E5-9592-49ECCA03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71450"/>
            <a:ext cx="533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3F22"/>
          </a:solidFill>
          <a:ln xmlns:a="http://schemas.openxmlformats.org/drawingml/2006/main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DDDB88-4B7D-4947-9E8D-8D7C2D50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"/>
            <a:ext cx="533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06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A619B3-9C88-4296-B6A5-05ED5CB0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"/>
            <a:ext cx="6667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Agent Skill：把户外任务</a:t>
            </a:r>
          </a:p>
          <a:p xmlns:a="http://schemas.openxmlformats.org/drawingml/2006/main">
            <a:pPr algn="l">
              <a:defRPr sz="2175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封装成可执行工作流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603935-A566-45BE-9E8B-8670D981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2190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DF4">
              <a:alpha val="88000"/>
            </a:srgbClr>
          </a:solidFill>
          <a:ln xmlns:a="http://schemas.openxmlformats.org/drawingml/2006/main" w="9525">
            <a:solidFill>
              <a:srgbClr val="46683B">
                <a:alpha val="45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368B0B-9039-45F5-8B7E-AD1264BBF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81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683B"/>
          </a:solidFill>
          <a:ln xmlns:a="http://schemas.openxmlformats.org/drawingml/2006/main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CC4485-7C4B-42C5-B9B9-BA2424F3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90675"/>
            <a:ext cx="3238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67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D39A99-E790-4981-ADD2-8DD6A1B0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581150"/>
            <a:ext cx="15049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Skill 知识库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C00716-1B68-4EC4-B837-F42B82CA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838325"/>
            <a:ext cx="1504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ai_tool_skills.md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099586-48AF-4323-9951-4B389F1C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2190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DF4">
              <a:alpha val="88000"/>
            </a:srgbClr>
          </a:solidFill>
          <a:ln xmlns:a="http://schemas.openxmlformats.org/drawingml/2006/main" w="9525">
            <a:solidFill>
              <a:srgbClr val="46683B">
                <a:alpha val="45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9E1AC3-0C13-4A01-A74A-7128A826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33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865C"/>
          </a:solidFill>
          <a:ln xmlns:a="http://schemas.openxmlformats.org/drawingml/2006/main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555EEE-4CD2-4047-B53D-142E2FB5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43175"/>
            <a:ext cx="3238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67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E4B0E3-47F7-45EA-B5DE-16977DD1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33650"/>
            <a:ext cx="15049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工具知识库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42A846-E7AD-4588-B09D-787C43B4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90825"/>
            <a:ext cx="1504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ai_tool_knowledge.md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9C8AFA-E0F2-4F4F-BE8E-73D0A94B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26670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DF4">
              <a:alpha val="88000"/>
            </a:srgbClr>
          </a:solidFill>
          <a:ln xmlns:a="http://schemas.openxmlformats.org/drawingml/2006/main" w="9525">
            <a:solidFill>
              <a:srgbClr val="46683B">
                <a:alpha val="4500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FB40AC-CD22-42F2-AF69-4B2EB8F5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8A4B"/>
          </a:solidFill>
          <a:ln xmlns:a="http://schemas.openxmlformats.org/drawingml/2006/main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FD7E77-487F-4AF8-9EA4-27C7F369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95675"/>
            <a:ext cx="3238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67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F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B2C16C-903D-4310-87FD-9D117E7E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86150"/>
            <a:ext cx="19812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调用流程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ACFE47-A893-4D4E-9D50-CC6B731B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43325"/>
            <a:ext cx="19812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loadSkill(skillName)</a:t>
            </a:r>
          </a:p>
          <a:p xmlns:a="http://schemas.openxmlformats.org/drawingml/2006/main">
            <a:pPr algn="l">
              <a:defRPr sz="923" b="0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-&gt; runTrailSenseTool(toolId)</a:t>
            </a:r>
          </a:p>
          <a:p xmlns:a="http://schemas.openxmlformats.org/drawingml/2006/main">
            <a:pPr algn="l">
              <a:defRPr sz="923" b="0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-&gt; 本地工具结果</a:t>
            </a:r>
          </a:p>
          <a:p xmlns:a="http://schemas.openxmlformats.org/drawingml/2006/main">
            <a:pPr algn="l">
              <a:defRPr sz="923" b="0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-&gt; 回答与行动卡片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397949-BAA9-49DB-AF6F-BEE66E24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219200"/>
            <a:ext cx="3429000" cy="40195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DF4">
              <a:alpha val="88000"/>
            </a:srgbClr>
          </a:solidFill>
          <a:ln xmlns:a="http://schemas.openxmlformats.org/drawingml/2006/main" w="9525">
            <a:solidFill>
              <a:srgbClr val="46683B">
                <a:alpha val="4500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A9D990-29EE-4CF2-9F77-3E52AA1F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39065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Skill 执行流程示例（迷路无信号）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9CE95E-812F-4DC4-8D40-0906884D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25146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DF4"/>
          </a:solidFill>
          <a:ln xmlns:a="http://schemas.openxmlformats.org/drawingml/2006/main" w="9525">
            <a:solidFill>
              <a:srgbClr val="46683B">
                <a:alpha val="4500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EDC861-76E2-4163-AE25-2EB60A78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876425"/>
            <a:ext cx="2286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识别意图</a:t>
            </a:r>
          </a:p>
          <a:p xmlns:a="http://schemas.openxmlformats.org/drawingml/2006/main">
            <a:pPr algn="ctr">
              <a:defRPr sz="938" b="0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迷路 + 无信号 + 需要求救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931B50-EEE6-4B1D-ADD2-DC54596F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71725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1865C"/>
          </a:solidFill>
          <a:ln xmlns:a="http://schemas.openxmlformats.org/drawingml/2006/main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A960A7-E100-451A-BEC6-B9CC630A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571750"/>
            <a:ext cx="25146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DF4"/>
          </a:solidFill>
          <a:ln xmlns:a="http://schemas.openxmlformats.org/drawingml/2006/main" w="9525">
            <a:solidFill>
              <a:srgbClr val="46683B">
                <a:alpha val="4500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21DCDD-F3BF-4089-81E0-040ACAAD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638425"/>
            <a:ext cx="2286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加载对应 Skill</a:t>
            </a:r>
          </a:p>
          <a:p xmlns:a="http://schemas.openxmlformats.org/drawingml/2006/main">
            <a:pPr algn="ctr">
              <a:defRPr sz="938" b="0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loadSkill('lost_no_signal')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D02171-FF8A-4A31-9C12-11BCB36E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33725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1865C"/>
          </a:solidFill>
          <a:ln xmlns:a="http://schemas.openxmlformats.org/drawingml/2006/main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C80F69E-CEB1-49BC-ADB8-A9ABB0A2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333750"/>
            <a:ext cx="25146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DF4"/>
          </a:solidFill>
          <a:ln xmlns:a="http://schemas.openxmlformats.org/drawingml/2006/main" w="9525">
            <a:solidFill>
              <a:srgbClr val="46683B">
                <a:alpha val="4500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BA9BC71-9E15-4872-B834-582BBE3E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400425"/>
            <a:ext cx="2286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执行步骤</a:t>
            </a:r>
          </a:p>
          <a:p xmlns:a="http://schemas.openxmlformats.org/drawingml/2006/main">
            <a:pPr algn="ctr">
              <a:defRPr sz="938" b="0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调用多个本地工具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4A21FAE-017B-40BE-8430-E5CEA170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95725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1865C"/>
          </a:solidFill>
          <a:ln xmlns:a="http://schemas.openxmlformats.org/drawingml/2006/main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5CEE147-D377-46F9-8A15-65CA37BF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095750"/>
            <a:ext cx="25146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DF4"/>
          </a:solidFill>
          <a:ln xmlns:a="http://schemas.openxmlformats.org/drawingml/2006/main" w="9525">
            <a:solidFill>
              <a:srgbClr val="46683B">
                <a:alpha val="4500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D15AE39-29BA-4739-8675-6C3264D7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162425"/>
            <a:ext cx="2286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整合结果</a:t>
            </a:r>
          </a:p>
          <a:p xmlns:a="http://schemas.openxmlformats.org/drawingml/2006/main">
            <a:pPr algn="ctr">
              <a:defRPr sz="938" b="0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生成解释与行动建议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A21E63E-7501-4211-AD7C-AEFFCC55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2192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F57F13-F362-4D48-B7B1-F9AF5B39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485900"/>
            <a:ext cx="2381250" cy="24574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DF4">
              <a:alpha val="88000"/>
            </a:srgbClr>
          </a:solidFill>
          <a:ln xmlns:a="http://schemas.openxmlformats.org/drawingml/2006/main" w="9525">
            <a:solidFill>
              <a:srgbClr val="46683B">
                <a:alpha val="4500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12C4B4A-9537-4DFA-86AB-18D3B754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57350"/>
            <a:ext cx="2381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工具执行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9C3C668-2D9D-432F-B88A-62CEADE1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76450"/>
            <a:ext cx="781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2F6EC"/>
          </a:solidFill>
          <a:ln xmlns:a="http://schemas.openxmlformats.org/drawingml/2006/main" w="9525">
            <a:solidFill>
              <a:srgbClr val="46683B">
                <a:alpha val="3500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DAC3CD6-6366-40CA-B3AF-1F0ECA1A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76450"/>
            <a:ext cx="7810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指南针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8149E2D-AB7C-460A-9BB8-E776C5883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076450"/>
            <a:ext cx="781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2F6EC"/>
          </a:solidFill>
          <a:ln xmlns:a="http://schemas.openxmlformats.org/drawingml/2006/main" w="9525">
            <a:solidFill>
              <a:srgbClr val="46683B">
                <a:alpha val="3500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DD252CB-CB92-4DDA-9E58-7303EAD6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076450"/>
            <a:ext cx="7810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地图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68C4E28-54CD-40CB-B184-C428533A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28900"/>
            <a:ext cx="781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2F6EC"/>
          </a:solidFill>
          <a:ln xmlns:a="http://schemas.openxmlformats.org/drawingml/2006/main" w="9525">
            <a:solidFill>
              <a:srgbClr val="46683B">
                <a:alpha val="3500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D6E690B-E9F1-44D0-BCA9-39831570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28900"/>
            <a:ext cx="7810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信标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5225BD1-87C4-420D-AE41-59BB3C6E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628900"/>
            <a:ext cx="781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2F6EC"/>
          </a:solidFill>
          <a:ln xmlns:a="http://schemas.openxmlformats.org/drawingml/2006/main" w="9525">
            <a:solidFill>
              <a:srgbClr val="46683B">
                <a:alpha val="3500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03A0738-285A-4901-BEED-95F02957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628900"/>
            <a:ext cx="7810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SOS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14CA7AB-5688-4419-BEF5-D1943B0D7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81350"/>
            <a:ext cx="781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2F6EC"/>
          </a:solidFill>
          <a:ln xmlns:a="http://schemas.openxmlformats.org/drawingml/2006/main" w="9525">
            <a:solidFill>
              <a:srgbClr val="46683B">
                <a:alpha val="3500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B595210-A92A-487B-85D1-8A65A03F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81350"/>
            <a:ext cx="7810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路径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4648F18-5BEE-4113-8F33-8C6A92C5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181350"/>
            <a:ext cx="781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2F6EC"/>
          </a:solidFill>
          <a:ln xmlns:a="http://schemas.openxmlformats.org/drawingml/2006/main" w="9525">
            <a:solidFill>
              <a:srgbClr val="46683B">
                <a:alpha val="3500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861CEB7-13F9-4819-81AA-AA4E8D23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181350"/>
            <a:ext cx="7810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哨子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875765A-582D-40C4-8AB1-4E519F6B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58140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Trail Sense</a:t>
            </a:r>
          </a:p>
          <a:p xmlns:a="http://schemas.openxmlformats.org/drawingml/2006/main">
            <a:pPr algn="ctr">
              <a:defRPr sz="975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本地工具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1D4EF51-3C7D-4991-9D5B-763F366E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905500"/>
            <a:ext cx="8115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6683B"/>
          </a:solidFill>
          <a:ln xmlns:a="http://schemas.openxmlformats.org/drawingml/2006/main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285C29C-D644-472F-A567-FCD60661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915025"/>
            <a:ext cx="7658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Skill 表达的是“完成一个户外任务的步骤”，不是单个功能卡片。</a:t>
            </a:r>
          </a:p>
        </p:txBody>
      </p:sp>
    </p:spTree>
    <p:extLst>
      <p:ext uri="{BB962C8B-B14F-4D97-AF65-F5344CB8AC3E}">
        <p14:creationId xmlns:p14="http://schemas.microsoft.com/office/powerpoint/2010/main" val="478230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1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B84186-CE1B-48AC-8FDE-62E2154C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DF4"/>
              </a:gs>
              <a:gs pos="62000">
                <a:srgbClr val="F4EDDE"/>
              </a:gs>
              <a:gs pos="100000">
                <a:srgbClr val="E6E2D0"/>
              </a:gs>
            </a:gsLst>
            <a:lin ang="9000000"/>
          </a:gradFill>
          <a:ln xmlns:a="http://schemas.openxmlformats.org/drawingml/2006/main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F0B650-8802-4355-88F7-6E7E9DD6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37147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683B">
              <a:alpha val="6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C37BB6-B69C-4E2C-B381-97BF4267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8625"/>
            <a:ext cx="285750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16B00F-7665-4A9D-87A6-3FBB77D2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657225"/>
            <a:ext cx="2133600" cy="1352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1872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64E01E-9DFB-43F0-9BF6-30E4F505E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923925"/>
            <a:ext cx="129540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143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E8238F-5A8C-4F27-B381-22EDA82A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333500"/>
            <a:ext cx="27622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16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E8E6B5-1DC7-429F-803D-BBC921CD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1562100"/>
            <a:ext cx="2038350" cy="1352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1152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6D8D50-8EF0-40AB-A013-0BAF4E8C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1828800"/>
            <a:ext cx="1200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88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16DD22-F46B-4D3D-909C-45196E2E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219700"/>
            <a:ext cx="285750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14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9BC67C-E3D8-4703-9625-4734E270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448300"/>
            <a:ext cx="213360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1008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752A69-ED9F-44A6-A5CA-3F745561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5715000"/>
            <a:ext cx="129540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77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6132E0-FCD9-4C54-BFF1-78A359DE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86375"/>
            <a:ext cx="4632960" cy="1343406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1865C">
              <a:alpha val="18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E0BB6A-1996-40F2-907F-4C149591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48250"/>
            <a:ext cx="5120640" cy="1638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1865C">
              <a:alpha val="18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51BB95-6CA0-405C-9327-360EA4D1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219700"/>
            <a:ext cx="5364480" cy="147447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1865C">
              <a:alpha val="18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8B0D68-BA86-4590-9867-2D2A0587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53000"/>
            <a:ext cx="4267200" cy="1638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8764D">
              <a:alpha val="24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CF0EDD-B344-4AD8-8D00-2B611535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5852160" cy="1638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8764D">
              <a:alpha val="24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BDFC5D-3BC0-4802-9803-426C8AF2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98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>
              <a:alpha val="75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9464AC-C3D5-40A7-8E6C-2D1083B2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71450"/>
            <a:ext cx="533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3F22"/>
          </a:solidFill>
          <a:ln xmlns:a="http://schemas.openxmlformats.org/drawingml/2006/main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335C00-FBB6-4D2C-A7A8-B7BFB082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"/>
            <a:ext cx="533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07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8D4073-83AB-4939-9134-493BEB78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"/>
            <a:ext cx="7239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多模态输入：户外照片和</a:t>
            </a:r>
          </a:p>
          <a:p xmlns:a="http://schemas.openxmlformats.org/drawingml/2006/main">
            <a:pPr algn="l">
              <a:defRPr sz="2175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App 截图进入本地推理链路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51AD66-27D5-4305-A2A7-17AC34A4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30861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DF4">
              <a:alpha val="88000"/>
            </a:srgbClr>
          </a:solidFill>
          <a:ln xmlns:a="http://schemas.openxmlformats.org/drawingml/2006/main" w="9525">
            <a:solidFill>
              <a:srgbClr val="46683B">
                <a:alpha val="45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911702-0F2C-446F-B7A6-1824C765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85900"/>
            <a:ext cx="152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输入流程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EF466D-0245-4D45-9197-7A6055E3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22860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图片选择</a:t>
            </a:r>
          </a:p>
          <a:p xmlns:a="http://schemas.openxmlformats.org/drawingml/2006/main">
            <a:pPr algn="l">
              <a:defRPr sz="1200" b="0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-&gt; Bitmap 处理</a:t>
            </a:r>
          </a:p>
          <a:p xmlns:a="http://schemas.openxmlformats.org/drawingml/2006/main">
            <a:pPr algn="l">
              <a:defRPr sz="1200" b="0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-&gt; Prompt 图片提示</a:t>
            </a:r>
          </a:p>
          <a:p xmlns:a="http://schemas.openxmlformats.org/drawingml/2006/main">
            <a:pPr algn="l">
              <a:defRPr sz="1200" b="0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-&gt; LiteRT-LM 输入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CA69B7-F8A3-4422-AC24-281F3831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4953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DF4">
              <a:alpha val="88000"/>
            </a:srgbClr>
          </a:solidFill>
          <a:ln xmlns:a="http://schemas.openxmlformats.org/drawingml/2006/main" w="9525">
            <a:solidFill>
              <a:srgbClr val="46683B">
                <a:alpha val="45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3FA53C-6624-4FFB-841E-2D10C156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957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典型场景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3399EE-BCF3-4B5A-AF3E-C71C895E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0"/>
            <a:ext cx="127635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FFDF4">
              <a:alpha val="88000"/>
            </a:srgbClr>
          </a:solidFill>
          <a:ln xmlns:a="http://schemas.openxmlformats.org/drawingml/2006/main" w="9525">
            <a:solidFill>
              <a:srgbClr val="46683B">
                <a:alpha val="4200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FDABDB-A277-4D36-8479-1E5ED6A3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00575"/>
            <a:ext cx="651510" cy="406146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1865C">
              <a:alpha val="18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B080DC-5294-49D1-9F65-8D8D40B9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362450"/>
            <a:ext cx="720090" cy="495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1865C">
              <a:alpha val="18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11BF4C-A79C-4AE6-AEE4-11463CCC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533900"/>
            <a:ext cx="754380" cy="44577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1865C">
              <a:alpha val="18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B8EA57-A743-46DC-A762-561AA09C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67200"/>
            <a:ext cx="600075" cy="495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8764D">
              <a:alpha val="24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9DED09-F4D9-4292-88C2-5278EDD6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38700"/>
            <a:ext cx="822960" cy="495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8764D">
              <a:alpha val="24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794EB9-8C63-4F6F-A769-711A6A3F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910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>
              <a:alpha val="75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C116D1-736E-44C8-A280-5335D197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86250"/>
            <a:ext cx="1276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云层识别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82F0B97-317B-4406-9CAA-CC008BC2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095750"/>
            <a:ext cx="127635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FFDF4">
              <a:alpha val="88000"/>
            </a:srgbClr>
          </a:solidFill>
          <a:ln xmlns:a="http://schemas.openxmlformats.org/drawingml/2006/main" w="9525">
            <a:solidFill>
              <a:srgbClr val="46683B">
                <a:alpha val="42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AB14A9-05B7-4C90-9CD3-D7EBBA8F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00575"/>
            <a:ext cx="651510" cy="406146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1865C">
              <a:alpha val="18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5D7C12B-B5BA-4606-8757-724EFBCB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62450"/>
            <a:ext cx="720090" cy="495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1865C">
              <a:alpha val="18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B26A566-12A4-4702-8D78-8128402E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533900"/>
            <a:ext cx="754380" cy="44577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1865C">
              <a:alpha val="18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E539E95-6D67-4124-94DE-31E17792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267200"/>
            <a:ext cx="600075" cy="495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8764D">
              <a:alpha val="24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77E60B3-D885-4AFD-BA5C-A067C3EF3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838700"/>
            <a:ext cx="822960" cy="495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8764D">
              <a:alpha val="24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1C20544-D51C-435E-8639-39D181FE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5910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>
              <a:alpha val="75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5F01504-3D60-4702-810D-BA333EBE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286250"/>
            <a:ext cx="1276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App 截图解释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FD9B8F2-AFA4-47B6-91E7-900DCA3B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095750"/>
            <a:ext cx="127635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FFDF4">
              <a:alpha val="88000"/>
            </a:srgbClr>
          </a:solidFill>
          <a:ln xmlns:a="http://schemas.openxmlformats.org/drawingml/2006/main" w="9525">
            <a:solidFill>
              <a:srgbClr val="46683B">
                <a:alpha val="4200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61BB0BC-7D20-4401-B26C-5832F6A5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600575"/>
            <a:ext cx="651510" cy="406146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1865C">
              <a:alpha val="18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0A4A086-8066-4A76-8D53-C7ED9A7AC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362450"/>
            <a:ext cx="720090" cy="495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1865C">
              <a:alpha val="18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FE40A2E-599F-4461-BD53-21A25F32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4533900"/>
            <a:ext cx="754380" cy="44577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1865C">
              <a:alpha val="18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A041A48-87DD-4C74-A63A-73CFACF1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267200"/>
            <a:ext cx="600075" cy="495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8764D">
              <a:alpha val="24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1C570F4-261B-479A-ADEB-AFBD887D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8700"/>
            <a:ext cx="822960" cy="495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8764D">
              <a:alpha val="24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9ADABE1-1BA2-4604-B10C-9680CA74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5910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>
              <a:alpha val="75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A6FB020-DE5F-400B-8218-F86B5744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286250"/>
            <a:ext cx="1276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环境观察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0526DB4-D23C-4F5C-8089-208A325B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504950"/>
            <a:ext cx="2381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4">
              <a:alpha val="88000"/>
            </a:srgbClr>
          </a:solidFill>
          <a:ln xmlns:a="http://schemas.openxmlformats.org/drawingml/2006/main" w="9525">
            <a:solidFill>
              <a:srgbClr val="46683B">
                <a:alpha val="4500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DC794A8-4F4F-4BC6-BB80-E5741DB1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76400"/>
            <a:ext cx="238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AI 识别与理解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82D5687-0EA4-47D2-82D6-EF41ACDF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57400"/>
            <a:ext cx="18478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图片 + 文字 + 工具知识</a:t>
            </a:r>
          </a:p>
          <a:p xmlns:a="http://schemas.openxmlformats.org/drawingml/2006/main">
            <a:pPr algn="ctr">
              <a:defRPr sz="1050" b="0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合并进入本地推理链路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D87EE5C-57CA-4A4A-9D9A-086AE18A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81200"/>
            <a:ext cx="4572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6683B"/>
          </a:solidFill>
          <a:ln xmlns:a="http://schemas.openxmlformats.org/drawingml/2006/main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6120A71-1ABF-4D6D-B00E-02B12022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81200"/>
            <a:ext cx="4572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6683B"/>
          </a:solidFill>
          <a:ln xmlns:a="http://schemas.openxmlformats.org/drawingml/2006/main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8182C37-602E-48BB-BF2D-D13D0E618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028700"/>
            <a:ext cx="2190750" cy="4191000"/>
          </a:xfrm>
          <a:prstGeom xmlns:a="http://schemas.openxmlformats.org/drawingml/2006/main" prst="roundRect">
            <a:avLst>
              <a:gd name="adj" fmla="val 12174"/>
            </a:avLst>
          </a:prstGeom>
          <a:solidFill xmlns:a="http://schemas.openxmlformats.org/drawingml/2006/main">
            <a:srgbClr val="101912"/>
          </a:solidFill>
          <a:ln xmlns:a="http://schemas.openxmlformats.org/drawingml/2006/main" w="19050">
            <a:solidFill>
              <a:srgbClr val="122419">
                <a:alpha val="6500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E7013B8-6D41-4276-9F75-3E3D9E73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276350"/>
            <a:ext cx="1962150" cy="3752850"/>
          </a:xfrm>
          <a:prstGeom xmlns:a="http://schemas.openxmlformats.org/drawingml/2006/main" prst="roundRect">
            <a:avLst>
              <a:gd name="adj" fmla="val 9709"/>
            </a:avLst>
          </a:prstGeom>
          <a:solidFill xmlns:a="http://schemas.openxmlformats.org/drawingml/2006/main">
            <a:srgbClr val="1A2B1D"/>
          </a:solidFill>
          <a:ln xmlns:a="http://schemas.openxmlformats.org/drawingml/2006/main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B5AD427-A334-4E7D-AE82-217A0B525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123950"/>
            <a:ext cx="6096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2C24"/>
          </a:solidFill>
          <a:ln xmlns:a="http://schemas.openxmlformats.org/drawingml/2006/main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5BEE8BE-FFA6-4C33-98F7-50037110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390650"/>
            <a:ext cx="1771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AI Assistant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8C2FC99-0E7E-46E3-988C-B066483C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95450"/>
            <a:ext cx="1619250" cy="904875"/>
          </a:xfrm>
          <a:prstGeom xmlns:a="http://schemas.openxmlformats.org/drawingml/2006/main" prst="roundRect">
            <a:avLst>
              <a:gd name="adj" fmla="val 14737"/>
            </a:avLst>
          </a:prstGeom>
          <a:solidFill xmlns:a="http://schemas.openxmlformats.org/drawingml/2006/main">
            <a:srgbClr val="FFFDF4">
              <a:alpha val="8000"/>
            </a:srgbClr>
          </a:solidFill>
          <a:ln xmlns:a="http://schemas.openxmlformats.org/drawingml/2006/main"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97B2796-0029-4A3E-AA66-8F0A56A1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09750"/>
            <a:ext cx="1390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这片云层有什么风险？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BD67CA9-823A-4929-97D4-33C03427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24075"/>
            <a:ext cx="13906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DE8D6"/>
                </a:solidFill>
                <a:latin typeface="Avenir Next"/>
                <a:ea typeface="Avenir Next"/>
                <a:cs typeface="Avenir Next"/>
              </a:defRPr>
            </a:pPr>
            <a:r>
              <a:t>结合图片判断：可能出现</a:t>
            </a:r>
          </a:p>
          <a:p xmlns:a="http://schemas.openxmlformats.org/drawingml/2006/main">
            <a:pPr algn="l">
              <a:defRPr sz="788" b="0">
                <a:solidFill>
                  <a:srgbClr val="DDE8D6"/>
                </a:solidFill>
                <a:latin typeface="Avenir Next"/>
                <a:ea typeface="Avenir Next"/>
                <a:cs typeface="Avenir Next"/>
              </a:defRPr>
            </a:pPr>
            <a:r>
              <a:t>积云发展，关注天气变化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59DBE25-366E-4A70-A865-64412DCD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38450"/>
            <a:ext cx="72390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4">
              <a:alpha val="8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DEF0F63-51FA-4644-B85C-98910A01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38450"/>
            <a:ext cx="7239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看天气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2D009BC-1F10-48BB-BF7F-BC123B24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38450"/>
            <a:ext cx="72390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4">
              <a:alpha val="8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30F2A1E-7326-4E8E-8FF5-C0DFCE3C5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38450"/>
            <a:ext cx="7239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看气压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CEEA34A-127F-4016-80A9-731B2A31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33750"/>
            <a:ext cx="72390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4">
              <a:alpha val="8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382EC80-392A-44A9-9381-1E6CE29A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33750"/>
            <a:ext cx="7239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安全建议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A52CD2C-5A90-40EF-8D85-9716A202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33750"/>
            <a:ext cx="72390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4">
              <a:alpha val="8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7E76447-E3C8-45A7-96E0-4EDB9111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33750"/>
            <a:ext cx="7239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工具入口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5AB4A96-E276-4FB9-BCE2-B1966FC0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4991100"/>
            <a:ext cx="2667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3A33"/>
          </a:solidFill>
          <a:ln xmlns:a="http://schemas.openxmlformats.org/drawingml/2006/main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058EB15-F0CA-4BC8-BDE6-D0D598E4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53100"/>
            <a:ext cx="6191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用户可以直接提交“看到的东西”，AI 结合图片、文字和工具知识做判断。</a:t>
            </a:r>
          </a:p>
        </p:txBody>
      </p:sp>
    </p:spTree>
    <p:extLst>
      <p:ext uri="{BB962C8B-B14F-4D97-AF65-F5344CB8AC3E}">
        <p14:creationId xmlns:p14="http://schemas.microsoft.com/office/powerpoint/2010/main" val="9274592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1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18D880-CDF0-47E3-AE72-28AA73277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DF4"/>
              </a:gs>
              <a:gs pos="62000">
                <a:srgbClr val="F4EDDE"/>
              </a:gs>
              <a:gs pos="100000">
                <a:srgbClr val="E6E2D0"/>
              </a:gs>
            </a:gsLst>
            <a:lin ang="9000000"/>
          </a:gradFill>
          <a:ln xmlns:a="http://schemas.openxmlformats.org/drawingml/2006/main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7FAB76-43F1-48FB-808B-2AA30C36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37147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683B">
              <a:alpha val="6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24CE9B-521D-4F7B-A909-E8880F11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8625"/>
            <a:ext cx="285750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04C8B6-B9E2-4AD5-AE2A-C254774FF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657225"/>
            <a:ext cx="2133600" cy="1352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1872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521295-17BA-41BA-814E-609D745C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923925"/>
            <a:ext cx="129540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143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BBE0CA-1A1E-41C1-ADDA-B2CA26BF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333500"/>
            <a:ext cx="27622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16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833592-1200-4F87-951B-8275AE79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1562100"/>
            <a:ext cx="2038350" cy="1352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1152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0EC7F3-BF97-4BD2-AACF-796E6F01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1828800"/>
            <a:ext cx="1200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88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4A3A06-FB00-4D70-B656-04BBDF62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219700"/>
            <a:ext cx="285750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14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7BC97E-BE6E-46E5-A0A1-71960F2D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448300"/>
            <a:ext cx="213360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1008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D61B2F-1F02-441A-B507-14B1B4B7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5715000"/>
            <a:ext cx="129540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77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4DF8CB-60EF-491D-ACB2-F8E5E379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86375"/>
            <a:ext cx="4632960" cy="1343406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1865C">
              <a:alpha val="18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DA8B87-61BC-4B09-8F14-A717BECE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48250"/>
            <a:ext cx="5120640" cy="1638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1865C">
              <a:alpha val="18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87DFA0-E88B-4276-A016-7C968968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219700"/>
            <a:ext cx="5364480" cy="147447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1865C">
              <a:alpha val="18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9913F9-9770-42A4-8E03-3DCCB008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53000"/>
            <a:ext cx="4267200" cy="1638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8764D">
              <a:alpha val="24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8A91B5-D3BB-4742-9EED-D9938A0B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5852160" cy="1638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8764D">
              <a:alpha val="24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32B8E0-0E61-4B0F-A09A-9B03C17C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98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>
              <a:alpha val="75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19A84B-51C9-40D2-8DD4-61DD8934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71450"/>
            <a:ext cx="533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3F22"/>
          </a:solidFill>
          <a:ln xmlns:a="http://schemas.openxmlformats.org/drawingml/2006/main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3B8C8A-20D4-481D-9E34-E03238A8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"/>
            <a:ext cx="533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08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8FE295-DCF8-4C06-857E-68AA4FBB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"/>
            <a:ext cx="7715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工程交付：代码、测试、APK、</a:t>
            </a:r>
          </a:p>
          <a:p xmlns:a="http://schemas.openxmlformats.org/drawingml/2006/main">
            <a:pPr algn="l">
              <a:defRPr sz="2100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Demo 和官方提交材料已完成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FF8B6F-454B-4EE7-B6BE-6629C03F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4000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DF4">
              <a:alpha val="88000"/>
            </a:srgbClr>
          </a:solidFill>
          <a:ln xmlns:a="http://schemas.openxmlformats.org/drawingml/2006/main" w="9525">
            <a:solidFill>
              <a:srgbClr val="46683B">
                <a:alpha val="45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4EAC09-05F4-48C6-97E0-12DC3B8B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04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683B"/>
          </a:solidFill>
          <a:ln xmlns:a="http://schemas.openxmlformats.org/drawingml/2006/main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479AA6-FCD1-4CAA-B972-D94AC9547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14475"/>
            <a:ext cx="3238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67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027356-B08C-4E48-9469-8B2C6928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504950"/>
            <a:ext cx="33147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技术栈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D77297-4799-4DB8-9295-9286C494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762125"/>
            <a:ext cx="3314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Gemma 4、LiteRT-LM、Android/Kotlin、Trail Sense 本地工具体系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BE368C-46E6-4478-9547-4AE3E577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4000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4">
              <a:alpha val="88000"/>
            </a:srgbClr>
          </a:solidFill>
          <a:ln xmlns:a="http://schemas.openxmlformats.org/drawingml/2006/main" w="9525">
            <a:solidFill>
              <a:srgbClr val="46683B">
                <a:alpha val="4500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A871BC-1853-43BD-89F8-4FA73FEE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865C"/>
          </a:solidFill>
          <a:ln xmlns:a="http://schemas.openxmlformats.org/drawingml/2006/main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5A366F-ABEE-449D-B3BA-516927F0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62225"/>
            <a:ext cx="3238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67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EA128C-7825-4CC3-8B68-BB9ED63E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52700"/>
            <a:ext cx="33147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核心模块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AAA25B-EEC2-42FA-9EBC-6B578E69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09875"/>
            <a:ext cx="3314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AiInferenceSubsystem、ModelManager、AiAssistantTools、TrailSenseAiToolRunner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9829D4-17AC-49BC-B2B1-584B4FAB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4000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DF4">
              <a:alpha val="88000"/>
            </a:srgbClr>
          </a:solidFill>
          <a:ln xmlns:a="http://schemas.openxmlformats.org/drawingml/2006/main" w="9525">
            <a:solidFill>
              <a:srgbClr val="46683B">
                <a:alpha val="45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717512-55B4-4310-BE39-E0BC98BD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8A4B"/>
          </a:solidFill>
          <a:ln xmlns:a="http://schemas.openxmlformats.org/drawingml/2006/main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7C0431-3743-4BD3-82D1-38F5742B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05225"/>
            <a:ext cx="3238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67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CB948A-6751-48EF-A77C-E0A36369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95700"/>
            <a:ext cx="33147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知识与 Prompt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17B418-0870-4B23-B0F5-2BB177C4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52875"/>
            <a:ext cx="3314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AiPromptBuilder、ai_tool_knowledge.md、ai_tool_skills.md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8CD32E-6C3F-4E23-B7C5-5E9EDB82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1050"/>
            <a:ext cx="4000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DF4">
              <a:alpha val="88000"/>
            </a:srgbClr>
          </a:solidFill>
          <a:ln xmlns:a="http://schemas.openxmlformats.org/drawingml/2006/main" w="9525">
            <a:solidFill>
              <a:srgbClr val="46683B">
                <a:alpha val="4500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83609F-0D04-41D5-B7F5-EBD0805F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43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683B"/>
          </a:solidFill>
          <a:ln xmlns:a="http://schemas.openxmlformats.org/drawingml/2006/main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978B19-316E-47B4-814B-EBFA493B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52975"/>
            <a:ext cx="3238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67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3C70DC1-7E30-473E-BD95-75F6F790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743450"/>
            <a:ext cx="33147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交付物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357BBE4-4C2A-4AD3-87E7-3143076A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00625"/>
            <a:ext cx="3314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APK、Demo 视频、技术报告、官方提交材料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B4299C4-0F02-4B3F-939F-D7211054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295400"/>
            <a:ext cx="21145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DF4">
              <a:alpha val="88000"/>
            </a:srgbClr>
          </a:solidFill>
          <a:ln xmlns:a="http://schemas.openxmlformats.org/drawingml/2006/main" w="9525">
            <a:solidFill>
              <a:srgbClr val="46683B">
                <a:alpha val="4500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1B46157-D7C7-4882-822D-D6C6BC7E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466850"/>
            <a:ext cx="2114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工程交付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B05E602-F085-4E7C-AC84-F3830F0A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885950"/>
            <a:ext cx="21145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46683B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Android</a:t>
            </a:r>
          </a:p>
          <a:p xmlns:a="http://schemas.openxmlformats.org/drawingml/2006/main">
            <a:pPr algn="ctr">
              <a:defRPr sz="2550" b="1">
                <a:solidFill>
                  <a:srgbClr val="46683B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APK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721FB5B-B7BB-4F02-AB62-BC69A788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667000"/>
            <a:ext cx="14668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F22"/>
          </a:solidFill>
          <a:ln xmlns:a="http://schemas.openxmlformats.org/drawingml/2006/main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5A75989-A07C-41E2-B11F-0BD3C42C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676525"/>
            <a:ext cx="1466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Release Package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AFE5FC5-9E0F-4BAE-9E99-5A40E0F1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295400"/>
            <a:ext cx="2286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DF4">
              <a:alpha val="88000"/>
            </a:srgbClr>
          </a:solidFill>
          <a:ln xmlns:a="http://schemas.openxmlformats.org/drawingml/2006/main" w="9525">
            <a:solidFill>
              <a:srgbClr val="46683B">
                <a:alpha val="4500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B55C364-20B4-4386-A34D-12DF439C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66850"/>
            <a:ext cx="228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测试验证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A7E928B-5E49-439C-8279-3D38093F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47850"/>
            <a:ext cx="133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6683B"/>
                </a:solidFill>
                <a:latin typeface="Avenir Next"/>
                <a:ea typeface="Avenir Next"/>
                <a:cs typeface="Avenir Next"/>
              </a:defRPr>
            </a:pPr>
            <a:r>
              <a:t>✓ 功能测试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114BEF4-BBD6-4429-88CF-AEA21877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33600"/>
            <a:ext cx="133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6683B"/>
                </a:solidFill>
                <a:latin typeface="Avenir Next"/>
                <a:ea typeface="Avenir Next"/>
                <a:cs typeface="Avenir Next"/>
              </a:defRPr>
            </a:pPr>
            <a:r>
              <a:t>✓ 集成测试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79D7503-954C-46CF-847A-92C139BC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19350"/>
            <a:ext cx="133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6683B"/>
                </a:solidFill>
                <a:latin typeface="Avenir Next"/>
                <a:ea typeface="Avenir Next"/>
                <a:cs typeface="Avenir Next"/>
              </a:defRPr>
            </a:pPr>
            <a:r>
              <a:t>✓ 离线测试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43A7F58-4F21-4196-9ACF-ABB48B03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05100"/>
            <a:ext cx="133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6683B"/>
                </a:solidFill>
                <a:latin typeface="Avenir Next"/>
                <a:ea typeface="Avenir Next"/>
                <a:cs typeface="Avenir Next"/>
              </a:defRPr>
            </a:pPr>
            <a:r>
              <a:t>✓ 稳定性测试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EFE7B47-ACCC-41D6-99D7-CD5CF5FA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90900"/>
            <a:ext cx="46672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DF4">
              <a:alpha val="88000"/>
            </a:srgbClr>
          </a:solidFill>
          <a:ln xmlns:a="http://schemas.openxmlformats.org/drawingml/2006/main" w="9525">
            <a:solidFill>
              <a:srgbClr val="46683B">
                <a:alpha val="4500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56CD721-1117-47B8-9F00-48ECF6EE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00450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Demo 视频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8739C88-D7EF-4446-AE7C-ED9A2B78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14750"/>
            <a:ext cx="10287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E24A35"/>
          </a:solidFill>
          <a:ln xmlns:a="http://schemas.openxmlformats.org/drawingml/2006/main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CA71FF7-A6D8-4E49-B624-E2443348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14750"/>
            <a:ext cx="10287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▶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DFFD96C-BBCD-443F-A350-3B45F543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67200"/>
            <a:ext cx="18669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youtube.com/watch?v=EkK9DF7OfXg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2FE59EF-613B-489C-BAB1-A1EDF811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790950"/>
            <a:ext cx="1047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官方提交材料</a:t>
            </a:r>
          </a:p>
          <a:p xmlns:a="http://schemas.openxmlformats.org/drawingml/2006/main">
            <a:pPr algn="ctr">
              <a:defRPr sz="975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技术报告 / APK / Demo / PR</a:t>
            </a:r>
          </a:p>
        </p:txBody>
      </p:sp>
    </p:spTree>
    <p:extLst>
      <p:ext uri="{BB962C8B-B14F-4D97-AF65-F5344CB8AC3E}">
        <p14:creationId xmlns:p14="http://schemas.microsoft.com/office/powerpoint/2010/main" val="16858382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1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384201-5C37-4BF8-AE1E-FAC05A99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DF4"/>
              </a:gs>
              <a:gs pos="62000">
                <a:srgbClr val="F4EDDE"/>
              </a:gs>
              <a:gs pos="100000">
                <a:srgbClr val="E6E2D0"/>
              </a:gs>
            </a:gsLst>
            <a:lin ang="9000000"/>
          </a:gradFill>
          <a:ln xmlns:a="http://schemas.openxmlformats.org/drawingml/2006/main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9E87D7-5F11-4FA0-983E-8648798E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37147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683B">
              <a:alpha val="6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4E3335-488D-4119-B875-238FE551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8625"/>
            <a:ext cx="285750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680FA7-67B7-49B8-98F1-4D15036B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657225"/>
            <a:ext cx="2133600" cy="1352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1872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162082-C483-44A5-8E6A-1FD92EA0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923925"/>
            <a:ext cx="129540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143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0BD9CF-BFE9-4D47-88DC-FF42AAE3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333500"/>
            <a:ext cx="27622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16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AAD93B-E983-44C5-ABA3-2140478B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1562100"/>
            <a:ext cx="2038350" cy="1352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1152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24E0AF-ABC7-4F6C-97B7-9C70AD0F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1828800"/>
            <a:ext cx="1200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88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0EFEEF-2A55-4B7C-BCF5-FA112B7F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219700"/>
            <a:ext cx="285750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14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404F3A-078D-4889-A0D2-3904E5C7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448300"/>
            <a:ext cx="213360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1008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B1EB1F-758F-4BCC-B1F8-FA8E018E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5715000"/>
            <a:ext cx="129540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77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FD701F-54DA-4AFA-AE52-3D8F4BF6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86375"/>
            <a:ext cx="4632960" cy="1343406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6683B">
              <a:alpha val="44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3659C4-B5FB-4F23-82E4-00E3D4CB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48250"/>
            <a:ext cx="5120640" cy="1638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6683B">
              <a:alpha val="44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FAFC30-825D-4237-8B56-50F22DB6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219700"/>
            <a:ext cx="5364480" cy="147447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6683B">
              <a:alpha val="44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9A4F32-EBD1-4306-8E53-E1A1C57F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53000"/>
            <a:ext cx="4267200" cy="1638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2718">
              <a:alpha val="82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131FE5-BB27-422D-85D9-E2EC80A1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5852160" cy="1638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2718">
              <a:alpha val="82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27FBF1-5DE4-49B1-B54A-B05F29E1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98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718">
              <a:alpha val="86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B506F5-C513-4DFA-93F5-01C34103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71450"/>
            <a:ext cx="533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3F22"/>
          </a:solidFill>
          <a:ln xmlns:a="http://schemas.openxmlformats.org/drawingml/2006/main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6FFAD9-58EC-4F15-859E-E56E096F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"/>
            <a:ext cx="533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09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963797-767C-49B3-8657-A8097AAA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"/>
            <a:ext cx="7239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差异化：不是云端聊天机器人，</a:t>
            </a:r>
          </a:p>
          <a:p xmlns:a="http://schemas.openxmlformats.org/drawingml/2006/main">
            <a:pPr algn="l">
              <a:defRPr sz="2175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而是端侧工具型 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FBFA77-64D5-4A08-AE80-C290A91E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85900"/>
            <a:ext cx="723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DF4">
              <a:alpha val="40000"/>
            </a:srgbClr>
          </a:solidFill>
          <a:ln xmlns:a="http://schemas.openxmlformats.org/drawingml/2006/main" w="9525">
            <a:solidFill>
              <a:srgbClr val="46683B">
                <a:alpha val="50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EBCB26-57F4-494A-81F9-B4A85E32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85900"/>
            <a:ext cx="2413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22"/>
          </a:solidFill>
          <a:ln xmlns:a="http://schemas.openxmlformats.org/drawingml/2006/main"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DEE4BD-E836-4505-BB36-309B278D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2260600" cy="676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vs 普通云端 Chatbot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96B6A1-AB96-43F2-BBBA-949A27ED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850" y="1485900"/>
            <a:ext cx="2413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22"/>
          </a:solidFill>
          <a:ln xmlns:a="http://schemas.openxmlformats.org/drawingml/2006/main"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5DB375-18A0-4156-BC41-300B0D45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0" y="1504950"/>
            <a:ext cx="2260600" cy="676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vs 单点 AI 功能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C71E53-A9C9-4F0F-AB79-1E921D7D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0850" y="1485900"/>
            <a:ext cx="2413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83B"/>
          </a:solidFill>
          <a:ln xmlns:a="http://schemas.openxmlformats.org/drawingml/2006/main"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3B5D04-5122-43A2-89D1-6C1EB5EB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7050" y="1504950"/>
            <a:ext cx="2260600" cy="676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vs 传统工具箱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B2E739-058E-4C14-864E-52A6385F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0275"/>
            <a:ext cx="2413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4">
              <a:alpha val="92000"/>
            </a:srgbClr>
          </a:solidFill>
          <a:ln xmlns:a="http://schemas.openxmlformats.org/drawingml/2006/main" w="9525">
            <a:solidFill>
              <a:srgbClr val="46683B">
                <a:alpha val="3200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88B96D-F344-4991-99C7-3DBC1FAF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2260600" cy="638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23" b="0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端侧推理，离线可用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7C46C9-F853-4013-A5D1-E5D99111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850" y="2200275"/>
            <a:ext cx="2413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4">
              <a:alpha val="92000"/>
            </a:srgbClr>
          </a:solidFill>
          <a:ln xmlns:a="http://schemas.openxmlformats.org/drawingml/2006/main" w="9525">
            <a:solidFill>
              <a:srgbClr val="46683B">
                <a:alpha val="3200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CE7A0C-0DC6-4164-AE15-D72CEE7D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0" y="2238375"/>
            <a:ext cx="2260600" cy="638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23" b="0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接入完整户外工具体系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906BB3-6FEC-4EF6-8116-F7203462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0850" y="2200275"/>
            <a:ext cx="2413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83B">
              <a:alpha val="18000"/>
            </a:srgbClr>
          </a:solidFill>
          <a:ln xmlns:a="http://schemas.openxmlformats.org/drawingml/2006/main" w="9525">
            <a:solidFill>
              <a:srgbClr val="46683B">
                <a:alpha val="3200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B1CD44-F423-4529-A432-D8CC88543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7050" y="2238375"/>
            <a:ext cx="2260600" cy="638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23" b="0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自然语言 + 图片输入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CD6833-05D6-4D11-922D-4EC3D1D2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2413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4">
              <a:alpha val="92000"/>
            </a:srgbClr>
          </a:solidFill>
          <a:ln xmlns:a="http://schemas.openxmlformats.org/drawingml/2006/main" w="9525">
            <a:solidFill>
              <a:srgbClr val="46683B">
                <a:alpha val="32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E3F7C1-A664-42CF-BDA3-199F323D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2260600" cy="638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23" b="0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隐私保护，数据不出设备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26B1F8-DB80-4383-8077-27135490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850" y="2914650"/>
            <a:ext cx="2413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4">
              <a:alpha val="92000"/>
            </a:srgbClr>
          </a:solidFill>
          <a:ln xmlns:a="http://schemas.openxmlformats.org/drawingml/2006/main" w="9525">
            <a:solidFill>
              <a:srgbClr val="46683B">
                <a:alpha val="3200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25A80CB-2B7E-4FBD-9BF5-BED006799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0" y="2952750"/>
            <a:ext cx="2260600" cy="638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23" b="0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不是单纯问答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2CBC44E-6153-438C-BFB4-8E92473F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0850" y="2914650"/>
            <a:ext cx="2413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83B">
              <a:alpha val="18000"/>
            </a:srgbClr>
          </a:solidFill>
          <a:ln xmlns:a="http://schemas.openxmlformats.org/drawingml/2006/main" w="9525">
            <a:solidFill>
              <a:srgbClr val="46683B">
                <a:alpha val="3200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C5D5E5B-6D3E-4949-9A88-5A4CF6B3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7050" y="2952750"/>
            <a:ext cx="2260600" cy="638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23" b="0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Agent Skill 降低使用门槛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EC5EA8F-BAA2-4EBC-B938-55C73A53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29025"/>
            <a:ext cx="2413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4">
              <a:alpha val="92000"/>
            </a:srgbClr>
          </a:solidFill>
          <a:ln xmlns:a="http://schemas.openxmlformats.org/drawingml/2006/main" w="9525">
            <a:solidFill>
              <a:srgbClr val="46683B">
                <a:alpha val="3200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63D1268-05AA-416C-A55B-4C377403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2260600" cy="638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23" b="0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户外场景约束下的可靠建议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3F5DC2F-076A-41C0-9283-B0E86734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850" y="3629025"/>
            <a:ext cx="2413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4">
              <a:alpha val="92000"/>
            </a:srgbClr>
          </a:solidFill>
          <a:ln xmlns:a="http://schemas.openxmlformats.org/drawingml/2006/main" w="9525">
            <a:solidFill>
              <a:srgbClr val="46683B">
                <a:alpha val="3200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5DF6619-0761-4BA2-8B3C-28E9DA10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0" y="3667125"/>
            <a:ext cx="2260600" cy="638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23" b="0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覆盖真实任务工作流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E5A27AF-D842-49E0-A3C1-93EACB8B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0850" y="3629025"/>
            <a:ext cx="2413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83B">
              <a:alpha val="18000"/>
            </a:srgbClr>
          </a:solidFill>
          <a:ln xmlns:a="http://schemas.openxmlformats.org/drawingml/2006/main" w="9525">
            <a:solidFill>
              <a:srgbClr val="46683B">
                <a:alpha val="3200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8911DAE-01C5-4347-9D89-D022DF53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7050" y="3667125"/>
            <a:ext cx="2260600" cy="638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23" b="0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从“找工具”到“做任务”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5B31B22-2284-48A9-8A4B-252D96AF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219700"/>
            <a:ext cx="58293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46683B"/>
          </a:solidFill>
          <a:ln xmlns:a="http://schemas.openxmlformats.org/drawingml/2006/main" w="9525">
            <a:solidFill>
              <a:srgbClr val="46683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0523213-20BD-40FD-9057-883D11085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219700"/>
            <a:ext cx="5372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Trail Sense AI Assistant 把 AI 做进一个有明确场景、有离线价值、有真实工具资产的 App。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DACCB62-AD84-444B-83AE-87C68E9C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24250"/>
            <a:ext cx="2095500" cy="18097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3F22">
              <a:alpha val="32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6D8E05D-D20F-4849-8CF9-5BB603A3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143500"/>
            <a:ext cx="228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F22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Edge Tool AI</a:t>
            </a:r>
          </a:p>
        </p:txBody>
      </p:sp>
    </p:spTree>
    <p:extLst>
      <p:ext uri="{BB962C8B-B14F-4D97-AF65-F5344CB8AC3E}">
        <p14:creationId xmlns:p14="http://schemas.microsoft.com/office/powerpoint/2010/main" val="1745161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1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C55F28-7E9A-4D09-9CD7-B506B026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DF4"/>
              </a:gs>
              <a:gs pos="62000">
                <a:srgbClr val="F4EDDE"/>
              </a:gs>
              <a:gs pos="100000">
                <a:srgbClr val="E6E2D0"/>
              </a:gs>
            </a:gsLst>
            <a:lin ang="9000000"/>
          </a:gradFill>
          <a:ln xmlns:a="http://schemas.openxmlformats.org/drawingml/2006/main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6CCAEF-C919-4929-8E2A-61275214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37147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683B">
              <a:alpha val="6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1B5B9C-D0B8-493C-B5A0-8C964D0A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8625"/>
            <a:ext cx="285750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2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6779FE-1B56-42E4-AEB1-D48758D7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657225"/>
            <a:ext cx="2133600" cy="1352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1872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666487-9FB0-4C1E-AC5B-3FC5D0CF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923925"/>
            <a:ext cx="129540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143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E1C32D-5CAD-4836-98ED-5444BE02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333500"/>
            <a:ext cx="27622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16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6AC663-E9FC-4A50-9CE9-DAAAC2D2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1562100"/>
            <a:ext cx="2038350" cy="1352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1152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EF007C-65D7-4045-AC79-BAB3EDED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1828800"/>
            <a:ext cx="1200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88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D07BF8-2D68-466D-913F-E55E04B6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219700"/>
            <a:ext cx="285750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14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1129D5-2290-4F03-988F-66E75B69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448300"/>
            <a:ext cx="213360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1008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1FA137-0C83-4E21-B6B2-9E1C528B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5715000"/>
            <a:ext cx="129540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46683B">
                <a:alpha val="77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61FF3E-55DB-421C-8D3B-4531B5F5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86375"/>
            <a:ext cx="4632960" cy="1343406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1865C">
              <a:alpha val="18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F6DE9F-93FE-433B-A0C9-865F942B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48250"/>
            <a:ext cx="5120640" cy="1638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1865C">
              <a:alpha val="18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8CB29B-88C3-4751-AD0F-6F48A137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219700"/>
            <a:ext cx="5364480" cy="147447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1865C">
              <a:alpha val="18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F7AAC4-5EAA-4BF9-B707-813988D9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53000"/>
            <a:ext cx="4267200" cy="1638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8764D">
              <a:alpha val="24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1B5391-4EC5-47AA-95AC-BD0FB3AC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5852160" cy="1638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8764D">
              <a:alpha val="24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CFE33E-9A9F-4EC3-9C35-3E0AFEEB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98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>
              <a:alpha val="75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7319F6-F933-49F3-81E2-3BFC03BC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71450"/>
            <a:ext cx="533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3F22"/>
          </a:solidFill>
          <a:ln xmlns:a="http://schemas.openxmlformats.org/drawingml/2006/main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BA40E3-05DA-4431-BCB1-1A9EDB2D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"/>
            <a:ext cx="533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10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05D6C6-52D1-4007-9846-8DE46D6B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6700"/>
            <a:ext cx="7239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让户外工具在无网时也能听懂人话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64A543-334C-4DFE-8C59-72D6B792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066800"/>
            <a:ext cx="7239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DF4">
              <a:alpha val="88000"/>
            </a:srgbClr>
          </a:solidFill>
          <a:ln xmlns:a="http://schemas.openxmlformats.org/drawingml/2006/main" w="9525">
            <a:solidFill>
              <a:srgbClr val="46683B">
                <a:alpha val="45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C3323B-C538-4F08-AFED-BDBF1D68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066800"/>
            <a:ext cx="68199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Trail Sense AI Assistant = 成熟离线户外工具箱 + Gemma 4 本地 LLM + Agent Skill + Native Function Calling + 多模态输入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598CA4-82CE-4BD5-B9E2-E9273945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81200"/>
            <a:ext cx="2647950" cy="21717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DF4">
              <a:alpha val="88000"/>
            </a:srgbClr>
          </a:solidFill>
          <a:ln xmlns:a="http://schemas.openxmlformats.org/drawingml/2006/main" w="9525">
            <a:solidFill>
              <a:srgbClr val="46683B">
                <a:alpha val="45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BD3331-9A0C-4DDA-A313-EDFD4AB0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90750"/>
            <a:ext cx="2647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技术总结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8FC0B9-4077-45B3-9DD1-BFE5903B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90800"/>
            <a:ext cx="200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✓ 本地 LLM（Gemma 4）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1E94B7-6731-441C-A791-10B05D1C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76550"/>
            <a:ext cx="200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✓ 图片识别与多模态理解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0B13FF-AD44-46F3-8BFC-086E2993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62300"/>
            <a:ext cx="200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✓ Agent Skill 任务编排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4A5B76-AD26-4579-9E5A-488FD57A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48050"/>
            <a:ext cx="200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✓ Native Function Calling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6480DB-F0EE-47AF-9618-DC204D16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33800"/>
            <a:ext cx="200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✓ 本地工具执行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521B97-36EA-42EE-85D4-A4F8210E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981200"/>
            <a:ext cx="2647950" cy="21717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DF4">
              <a:alpha val="88000"/>
            </a:srgbClr>
          </a:solidFill>
          <a:ln xmlns:a="http://schemas.openxmlformats.org/drawingml/2006/main" w="9525">
            <a:solidFill>
              <a:srgbClr val="46683B">
                <a:alpha val="4500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595C03-E9A1-4D1D-AFDB-1C8D62BB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90750"/>
            <a:ext cx="2647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产品总结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A4ADD2-2739-4627-99CD-8EAFA95FC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86050"/>
            <a:ext cx="200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✓ 弱网可用，离线可靠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796E10-AA8C-4513-AEA6-BE3D168F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09900"/>
            <a:ext cx="200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✓ 隐私友好，数据本地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6E2A51-39EB-4DD0-92AA-85C0173A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33750"/>
            <a:ext cx="200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✓ 操作成本低，效率更高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B714B1-8C2B-478F-96A3-38A5E12E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57600"/>
            <a:ext cx="200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✓ 与真实户外工具深度结合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B58412-352D-451E-BFB8-6A6D6FD5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85900"/>
            <a:ext cx="1003935" cy="76771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3F22">
              <a:alpha val="10000"/>
            </a:srgbClr>
          </a:solidFill>
          <a:ln xmlns:a="http://schemas.openxmlformats.org/drawingml/2006/main" w="44291">
            <a:solidFill>
              <a:srgbClr val="173F2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AF1220-224C-4524-871F-CC98C763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4495" y="1604010"/>
            <a:ext cx="767715" cy="64960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3F22">
              <a:alpha val="5000"/>
            </a:srgbClr>
          </a:solidFill>
          <a:ln xmlns:a="http://schemas.openxmlformats.org/drawingml/2006/main" w="44291">
            <a:solidFill>
              <a:srgbClr val="173F2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5B9ED8-C148-4133-8BFF-93F61F32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86050"/>
            <a:ext cx="3048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22419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TRAIL SENSE</a:t>
            </a:r>
          </a:p>
          <a:p xmlns:a="http://schemas.openxmlformats.org/drawingml/2006/main">
            <a:pPr algn="ctr">
              <a:defRPr sz="2700" b="1">
                <a:solidFill>
                  <a:srgbClr val="122419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AI ASSISTANT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A70E150-6308-4836-A303-297D29DD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0525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2419"/>
                </a:solidFill>
                <a:latin typeface="Avenir Next"/>
                <a:ea typeface="Avenir Next"/>
                <a:cs typeface="Avenir Next"/>
              </a:defRPr>
            </a:pPr>
            <a:r>
              <a:t>Track C  |  Gemma 4  |  Trail Sense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83B8087-2D63-43E8-84EC-403C935B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762500"/>
            <a:ext cx="2667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173F22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581293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2026-06-09T13:55:29.2160000Z</dcterms:created>
  <dcterms:modified xsi:type="dcterms:W3CDTF">2026-06-09T13:55:29.2160000Z</dcterms:modified>
</coreProperties>
</file>