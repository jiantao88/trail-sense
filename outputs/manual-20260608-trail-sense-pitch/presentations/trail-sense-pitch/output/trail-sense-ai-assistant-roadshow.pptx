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e24ba47bc64abf" /><Relationship Type="http://schemas.openxmlformats.org/officeDocument/2006/relationships/extended-properties" Target="/docProps/app.xml" Id="R6eef245385774cc8" /><Relationship Type="http://schemas.openxmlformats.org/officeDocument/2006/relationships/officeDocument" Target="/ppt/presentation.xml" Id="R9ac0d723d642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9dcf656cf40dd"/>
  </p:sldMasterIdLst>
  <p:notesMasterIdLst>
    <p:notesMasterId xmlns:r="http://schemas.openxmlformats.org/officeDocument/2006/relationships" r:id="R08acbdf0c87c4958"/>
  </p:notesMasterIdLst>
  <p:sldIdLst>
    <p:sldId xmlns:r="http://schemas.openxmlformats.org/officeDocument/2006/relationships" id="256" r:id="R99faa440827a477c"/>
    <p:sldId xmlns:r="http://schemas.openxmlformats.org/officeDocument/2006/relationships" id="257" r:id="R7d90ac389c9e4eb0"/>
    <p:sldId xmlns:r="http://schemas.openxmlformats.org/officeDocument/2006/relationships" id="258" r:id="Rf964f8b2800b4e2c"/>
    <p:sldId xmlns:r="http://schemas.openxmlformats.org/officeDocument/2006/relationships" id="259" r:id="R3e183f17f2ac423a"/>
    <p:sldId xmlns:r="http://schemas.openxmlformats.org/officeDocument/2006/relationships" id="260" r:id="R38804ccde7044b24"/>
    <p:sldId xmlns:r="http://schemas.openxmlformats.org/officeDocument/2006/relationships" id="261" r:id="R0a4b849b08d2492a"/>
    <p:sldId xmlns:r="http://schemas.openxmlformats.org/officeDocument/2006/relationships" id="262" r:id="R92408014ea3f48d4"/>
    <p:sldId xmlns:r="http://schemas.openxmlformats.org/officeDocument/2006/relationships" id="263" r:id="Rbba5a60ad25f44a0"/>
    <p:sldId xmlns:r="http://schemas.openxmlformats.org/officeDocument/2006/relationships" id="264" r:id="Rb29e8429601b499a"/>
    <p:sldId xmlns:r="http://schemas.openxmlformats.org/officeDocument/2006/relationships" id="265" r:id="R23fd53a672ce42cd"/>
    <p:sldId xmlns:r="http://schemas.openxmlformats.org/officeDocument/2006/relationships" id="266" r:id="R048ac05ea58d4463"/>
    <p:sldId xmlns:r="http://schemas.openxmlformats.org/officeDocument/2006/relationships" id="267" r:id="R9d2cab82b07749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3c30aa41ad481c" /><Relationship Type="http://schemas.openxmlformats.org/officeDocument/2006/relationships/slideMaster" Target="/ppt/slideMasters/slideMaster1.xml" Id="R2b49dcf656cf40dd" /><Relationship Type="http://schemas.openxmlformats.org/officeDocument/2006/relationships/notesMaster" Target="/ppt/notesMasters/notesMaster1.xml" Id="R08acbdf0c87c4958" /><Relationship Type="http://schemas.openxmlformats.org/officeDocument/2006/relationships/presProps" Target="/ppt/presProps.xml" Id="R032a57a79aa1487c" /><Relationship Type="http://schemas.openxmlformats.org/officeDocument/2006/relationships/viewProps" Target="/ppt/viewProps.xml" Id="Rfa5b7ce72cab44e4" /><Relationship Type="http://schemas.openxmlformats.org/officeDocument/2006/relationships/tableStyles" Target="/ppt/tableStyles.xml" Id="R6255711694614bdf" /><Relationship Type="http://schemas.openxmlformats.org/officeDocument/2006/relationships/slide" Target="/ppt/slides/slide1.xml" Id="R99faa440827a477c" /><Relationship Type="http://schemas.openxmlformats.org/officeDocument/2006/relationships/slide" Target="/ppt/slides/slide2.xml" Id="R7d90ac389c9e4eb0" /><Relationship Type="http://schemas.openxmlformats.org/officeDocument/2006/relationships/slide" Target="/ppt/slides/slide3.xml" Id="Rf964f8b2800b4e2c" /><Relationship Type="http://schemas.openxmlformats.org/officeDocument/2006/relationships/slide" Target="/ppt/slides/slide4.xml" Id="R3e183f17f2ac423a" /><Relationship Type="http://schemas.openxmlformats.org/officeDocument/2006/relationships/slide" Target="/ppt/slides/slide5.xml" Id="R38804ccde7044b24" /><Relationship Type="http://schemas.openxmlformats.org/officeDocument/2006/relationships/slide" Target="/ppt/slides/slide6.xml" Id="R0a4b849b08d2492a" /><Relationship Type="http://schemas.openxmlformats.org/officeDocument/2006/relationships/slide" Target="/ppt/slides/slide7.xml" Id="R92408014ea3f48d4" /><Relationship Type="http://schemas.openxmlformats.org/officeDocument/2006/relationships/slide" Target="/ppt/slides/slide8.xml" Id="Rbba5a60ad25f44a0" /><Relationship Type="http://schemas.openxmlformats.org/officeDocument/2006/relationships/slide" Target="/ppt/slides/slide9.xml" Id="Rb29e8429601b499a" /><Relationship Type="http://schemas.openxmlformats.org/officeDocument/2006/relationships/slide" Target="/ppt/slides/slide10.xml" Id="R23fd53a672ce42cd" /><Relationship Type="http://schemas.openxmlformats.org/officeDocument/2006/relationships/slide" Target="/ppt/slides/slide11.xml" Id="R048ac05ea58d4463" /><Relationship Type="http://schemas.openxmlformats.org/officeDocument/2006/relationships/slide" Target="/ppt/slides/slide12.xml" Id="R9d2cab82b07749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52aaf2dec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d4f12ca7941c2" /><Relationship Type="http://schemas.openxmlformats.org/officeDocument/2006/relationships/notesMaster" Target="/ppt/notesMasters/notesMaster1.xml" Id="Rd5c6c6dacea4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f73691e7540f5" /><Relationship Type="http://schemas.openxmlformats.org/officeDocument/2006/relationships/notesMaster" Target="/ppt/notesMasters/notesMaster1.xml" Id="R3c83db823f70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1d3fa2c224a48" /><Relationship Type="http://schemas.openxmlformats.org/officeDocument/2006/relationships/notesMaster" Target="/ppt/notesMasters/notesMaster1.xml" Id="Rff5ba814d1cf43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3374880bae464d" /><Relationship Type="http://schemas.openxmlformats.org/officeDocument/2006/relationships/notesMaster" Target="/ppt/notesMasters/notesMaster1.xml" Id="Rb17d4ac3cc4d48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cad928165d413f" /><Relationship Type="http://schemas.openxmlformats.org/officeDocument/2006/relationships/notesMaster" Target="/ppt/notesMasters/notesMaster1.xml" Id="R712838b7f33743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1e1853c43433b" /><Relationship Type="http://schemas.openxmlformats.org/officeDocument/2006/relationships/notesMaster" Target="/ppt/notesMasters/notesMaster1.xml" Id="Rdc623a655dd843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c514a5af964e7d" /><Relationship Type="http://schemas.openxmlformats.org/officeDocument/2006/relationships/notesMaster" Target="/ppt/notesMasters/notesMaster1.xml" Id="R2025c61c7c9147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b9b56b05874710" /><Relationship Type="http://schemas.openxmlformats.org/officeDocument/2006/relationships/notesMaster" Target="/ppt/notesMasters/notesMaster1.xml" Id="R575f7fd015e745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085b382bd64dad" /><Relationship Type="http://schemas.openxmlformats.org/officeDocument/2006/relationships/notesMaster" Target="/ppt/notesMasters/notesMaster1.xml" Id="R3dc4e07864e54c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36652563074594" /><Relationship Type="http://schemas.openxmlformats.org/officeDocument/2006/relationships/notesMaster" Target="/ppt/notesMasters/notesMaster1.xml" Id="Rc84aaa1a1d9240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4f02660e2a4e57" /><Relationship Type="http://schemas.openxmlformats.org/officeDocument/2006/relationships/notesMaster" Target="/ppt/notesMasters/notesMaster1.xml" Id="R786b5779488040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7882667cc34506" /><Relationship Type="http://schemas.openxmlformats.org/officeDocument/2006/relationships/notesMaster" Target="/ppt/notesMasters/notesMaster1.xml" Id="Rdba5632be3af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1a8e20b4ae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759807b8f4e6a" /><Relationship Type="http://schemas.openxmlformats.org/officeDocument/2006/relationships/slideLayout" Target="/ppt/slideLayouts/slideLayout1.xml" Id="Re1daeec041e6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daeec041e6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db6e0df6f4005" /><Relationship Type="http://schemas.openxmlformats.org/officeDocument/2006/relationships/notesSlide" Target="/ppt/notesSlides/notesSlide1.xml" Id="Rddd2fd99746546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f5b9f9e5f4374" /><Relationship Type="http://schemas.openxmlformats.org/officeDocument/2006/relationships/notesSlide" Target="/ppt/notesSlides/notesSlide2.xml" Id="Rf7b8b6e231ee4b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ab56937f64b77" /><Relationship Type="http://schemas.openxmlformats.org/officeDocument/2006/relationships/notesSlide" Target="/ppt/notesSlides/notesSlide3.xml" Id="R6b0466a8b42d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35a8ca0a94673" /><Relationship Type="http://schemas.openxmlformats.org/officeDocument/2006/relationships/notesSlide" Target="/ppt/notesSlides/notesSlide4.xml" Id="Rb0961c49885948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0425e135341ad" /><Relationship Type="http://schemas.openxmlformats.org/officeDocument/2006/relationships/notesSlide" Target="/ppt/notesSlides/notesSlide5.xml" Id="R9ba9eaf4d9cd40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6e186be354266" /><Relationship Type="http://schemas.openxmlformats.org/officeDocument/2006/relationships/notesSlide" Target="/ppt/notesSlides/notesSlide6.xml" Id="R4088149fd25c4f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e09fc8e534aeb" /><Relationship Type="http://schemas.openxmlformats.org/officeDocument/2006/relationships/notesSlide" Target="/ppt/notesSlides/notesSlide7.xml" Id="Rafd07f74a0a84c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71733414043b8" /><Relationship Type="http://schemas.openxmlformats.org/officeDocument/2006/relationships/notesSlide" Target="/ppt/notesSlides/notesSlide8.xml" Id="R7c431a2fea77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90f64382047cd" /><Relationship Type="http://schemas.openxmlformats.org/officeDocument/2006/relationships/notesSlide" Target="/ppt/notesSlides/notesSlide9.xml" Id="R0f564b7f665f41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ce6551f1a40fd" /><Relationship Type="http://schemas.openxmlformats.org/officeDocument/2006/relationships/notesSlide" Target="/ppt/notesSlides/notesSlide10.xml" Id="R78205c3130b042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82877a33a46a6" /><Relationship Type="http://schemas.openxmlformats.org/officeDocument/2006/relationships/notesSlide" Target="/ppt/notesSlides/notesSlide11.xml" Id="R1d4ff58b2d6c47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8f0be358c420d" /><Relationship Type="http://schemas.openxmlformats.org/officeDocument/2006/relationships/notesSlide" Target="/ppt/notesSlides/notesSlide12.xml" Id="R7619dee661614f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97B112-5DA9-47E3-9990-60977D2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31C"/>
              </a:gs>
              <a:gs pos="48000">
                <a:srgbClr val="234D36"/>
              </a:gs>
              <a:gs pos="100000">
                <a:srgbClr val="F0B35A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B0688-1605-4833-9E0B-E096D52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35A">
              <a:alpha val="18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6A011-2DE6-4AF1-830A-74C2482D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>
              <a:alpha val="1000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EA0B5-7BFA-4B2E-925A-0BBD4C80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B35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6570D-7F7B-4F55-A01C-F2BED50E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4295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9EC"/>
                </a:solidFill>
                <a:latin typeface="Avenir Next"/>
                <a:ea typeface="Avenir Next"/>
                <a:cs typeface="Avenir Next"/>
              </a:defRPr>
            </a:pPr>
            <a:r>
              <a:t>把离线户外工具箱升级为</a:t>
            </a:r>
          </a:p>
          <a:p xmlns:a="http://schemas.openxmlformats.org/drawingml/2006/main">
            <a:pPr>
              <a:defRPr sz="4050" b="1">
                <a:solidFill>
                  <a:srgbClr val="FFF9EC"/>
                </a:solidFill>
                <a:latin typeface="Avenir Next"/>
                <a:ea typeface="Avenir Next"/>
                <a:cs typeface="Avenir Next"/>
              </a:defRPr>
            </a:pPr>
            <a:r>
              <a:t>端侧 AI 生存助手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47F34-EC86-442D-9E47-21181647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286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8EFE4"/>
                </a:solidFill>
                <a:latin typeface="Avenir Next"/>
                <a:ea typeface="Avenir Next"/>
                <a:cs typeface="Avenir Next"/>
              </a:defRPr>
            </a:pPr>
            <a:r>
              <a:t>不是只加一个聊天窗口，而是让 Gemma 4 理解整个 Trail Sense 工具体系：天气、导航、路径、信标、云识别、SOS、哨子和生存指南。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B16D9-06F8-411D-A6CC-A25ACA28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095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33C86-CD99-4FAC-AD49-92CD6180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Gemma 4 · LiteRT-LM · Agent Skill · Edge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3628D-8861-4D4A-AC0A-52A9C389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2860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8897B-8816-4068-8E8B-67136C97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43C90-4791-46E7-8DD6-13459302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1943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0 云端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5B9A1-A815-458D-BB87-BCF7443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15000"/>
            <a:ext cx="1943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位置、路径、图片和聊天内容默认留在本机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577BD-9260-4E7D-986E-F3E40EF5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2571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A4553-C2CE-4913-8575-F7B50EF1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244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88D1E-EA6C-4EB4-8E18-90459049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95900"/>
            <a:ext cx="2228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12+ 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9ADEA-2D91-4853-8C4E-70125F6B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15000"/>
            <a:ext cx="2228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天气、导航、路径、信标、云识别、SOS 等原 App 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CC4A5-5A6A-424C-9025-7ECCDB00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25717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2B6EA-AE37-4635-9837-3735CA2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F5DFEE-C548-483D-96DA-A57D7112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95900"/>
            <a:ext cx="2228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半决赛路演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52C2E-93CD-4D68-B937-A16CE2EE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15000"/>
            <a:ext cx="2228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项目叙事从完整 Trail Sense 产品出发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3C709-20FC-4DE7-AA65-CE7DBEE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34125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9E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Gemma 4 Hackathon Shanghai · Track C Edge AI</a:t>
            </a:r>
          </a:p>
        </p:txBody>
      </p:sp>
    </p:spTree>
    <p:extLst>
      <p:ext uri="{BB962C8B-B14F-4D97-AF65-F5344CB8AC3E}">
        <p14:creationId xmlns:p14="http://schemas.microsoft.com/office/powerpoint/2010/main" val="1228772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F3EBF-1BC3-4D3C-AD43-CC411F9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522C7-DB09-4CCB-8B56-8B86C2CD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D6E5F-E636-4994-8976-218C7F6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6AE49-EEE1-42B7-823E-D545CD5E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AC9F7-8375-4C71-ACC9-C4DDC6D2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58393-F0EB-4385-B070-949182DE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先从户外用户的问题开始：不是缺工具，而是关键时刻不知道怎么判断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9231F-D6D2-4373-9E11-A466AE90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0BF65-396F-4513-8B48-AB6EF549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905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户外场景的难点，是“信息碎片 + 高风险 + 弱网络”。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74575-2AD0-40F6-A6E9-77B97573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19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Trail Sense 原本已经有大量离线工具；半决赛路演要讲清楚的是：AI 如何把这些工具组织成用户能立即执行的判断和动作。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63DBC-9831-4BCE-9AB8-3C50CA92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381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4B9B0-75AC-491C-A3E4-DD3D43FC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00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15666-9C60-4FAB-8641-FCB69E53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716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工具多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C498A-FC6E-49A7-81BC-A64F636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907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天气、导航、路径、信标、云识别、生存指南、SOS、哨子等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2D070-7ABC-410E-810D-E305F69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28750"/>
            <a:ext cx="2381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8BFE4-8E94-4C31-AF72-D1C8C316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600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AF360-1C34-4286-95E8-7597E50E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716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读数难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F5F94-497F-491B-90F0-55AAFB8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907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气压、方向、云层、日落、路径数据需要解释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DC8B5-4ED2-4AB7-ABFF-5CF6262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381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D5014-6DF0-43CC-9CA0-B613867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6968C-E65D-4D84-8851-62574451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场景急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F8652-69A3-4F9E-8709-26B051F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147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迷路、雷暴、低温、天黑返程、求救都需要低操作成本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85810-E254-482C-B848-A619EDFC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2381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BFC105-B9DB-4AC0-8DCC-CEACF681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24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FAC3E-1D30-4C39-BEB7-4F3A392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956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无网络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6556D-D1E3-49A7-9A47-CEEE97B3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147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野外弱网下，云端聊天机器人无法稳定承担核心体验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81B79E-63FF-4E1F-8F1E-6424430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104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C279F-BA3D-435D-942A-D09DD784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F7120-F9E8-43D2-B2EB-E871C30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1070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路演主张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AC2E9-074B-4C41-B7E5-6E9DA00D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070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 把原本分散的离线工具变成一个能理解问题、能解释读数、能准备动作的端侧 AI 户外助手。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18839-B21E-4803-AEB4-90F9E644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948504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54974-5ACB-4034-B5B0-EE801D97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D7848-ADC8-4454-AF2B-96E83E9A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EC3C3-BE86-466E-9471-52294B5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6CE7E-D734-4A74-ABCE-FD9E9CA3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CCB32-C8C7-44C7-932E-0344A31C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F9EED-3DEC-4F90-8F7C-A47F9EF7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完整项目不是从零造 App：是在成熟离线户外工具箱上加智能入口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79090-3CF3-435B-BE07-8FEFFBD0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2357C-99BC-4887-9C61-0568F936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ORIGINAL TRAIL SENSE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C53D7-B561-49EC-A2EE-DAC599AD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048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保留原 App 的离线工具、传感器和生存指南。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0B72D-5959-4AB2-8808-A3335EAD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533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这让 AI 不是悬浮在外面的聊天窗口，而是接入已有工具、已有数据和已有户外工作流。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31998-617C-4398-9FF1-0F71D83A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23812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DBF0D-7CA0-4AD8-8671-E0B695C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92D97-97F2-43B2-9C45-24C7C044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47825"/>
            <a:ext cx="207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导航与定位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CDC5D-037D-4D83-9AD8-D3376A5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19300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指南针、导航、路径、信标、离线地图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9D867-207A-4642-AA68-55F64BA7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52550"/>
            <a:ext cx="23812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C091B-8E8B-4558-99AE-A610DCBD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049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590E5-8736-4E0D-A303-60747074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47825"/>
            <a:ext cx="207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天气与环境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FD5A9-7B3A-45D6-9E58-D77FB356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19300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天气、气压、云识别、雷电距离、气候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0AB7E-870C-4C5F-94EB-0749601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23812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C8F41-07DE-4A48-AD9F-33A1140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4DF22-990E-4D87-9BEF-54D29959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207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生存与应急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0F676-1DD3-4B87-86B0-3682F606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生存指南、SOS 手电筒、哨子、装备清单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02D629-811D-4D90-99AF-118F6D82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238125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6476A-3948-42E5-8587-FDEB7E8C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765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71D25-9A6D-4522-B667-CA19443C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19425"/>
            <a:ext cx="2076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天文与时间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EE279-B59F-4DFA-973E-4CF542FB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90900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日出日落、月相、天文信息、返程判断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370D3-30AF-4F67-8448-E7488504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23875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49325-FD95-435E-8E81-C67EE16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6A587-57E9-40B7-AAE9-32CB84E6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489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新增 AI Assistant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D7B61F-0625-4065-B6A2-1AC94F09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自然语言入口 + Gemma 4 本地推理 + Agent Skill + Native Function Calling + 图片输入 + 行动卡片。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8969A-BDDE-410C-A443-B971C874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523875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0E1A11-9BEB-4E96-A233-06CD98EF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672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895699-D5AB-48E7-BE80-A219241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4895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项目价值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E0726-3698-4B92-8E3C-76890D93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1965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把工具箱从“用户自己查”升级为“用户说目标，系统组织工具、解释数据、给出下一步动作”。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6DEEEE-4AC5-4D5B-94E1-DF26132A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5689005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86706B-7984-43F0-83DF-EA3DD8EF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CA4EE-100F-4B64-B4D9-CB6E4F58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FBD05-49DD-4997-BE1A-585261B1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C7276-D2CC-466C-BD90-E3D9D55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D5AD4-E363-49FC-9F2D-DC07717C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CC03D-39D2-4EE0-B441-73CCB7D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AI 的角色：把“工具列表”变成“可执行户外工作流”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56FBE-4E16-47EE-A9DD-A6D3EAAA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C4835-1B50-4016-965D-DC6EC857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572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用户不需要先知道工具名。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932A9-DAA2-4473-885F-CF3D7AE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33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例如“我迷路了，手机没信号怎么办？”不是一个聊天问题，而是一个多工具协同问题：定位、路径、信标、离线地图、求救信号和安全提醒需要按顺序组织。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81228-3E74-4E3F-A94E-7ACD9BEF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714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736D9-7704-44E8-889A-37279824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自然语言问题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5AF3B-47DE-40B1-869F-D11D4236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7688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CEC14-F78C-4383-95BD-1FFE8A1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1C3E9-FDDD-4AD2-AE91-23FCE29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8A834-A661-4C59-9B41-86D1CC0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38625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意图识别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2323C-F1AC-40C1-8289-B74FDA8F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57688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9A5C7-E2F3-4D9B-8EA6-FC3299C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B027CD-79A8-4473-B375-8DDD4941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DDA8A-A264-4445-8481-8D402E28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工具组合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12222-D09B-4E8C-A64F-AA2E4D0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57688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B8E26-9427-4618-8E32-52AF6D35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24904-0603-47D3-A510-7DC24212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491795-E1EF-4B07-8CE3-03937BD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38625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行动卡片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06125-670C-4CDB-A2CD-D6600D88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476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E4C70-232C-4D30-8AB2-EAEB0331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81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4468E4-4C99-491E-84EB-08E4F03B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24025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找工具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CFE57-CC11-4160-8A68-AB9CF59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根据目标推荐正确工具，而不是让用户翻工具列表。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84B59-EDCB-4CBD-8EAF-08CC4E47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476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DBCA4-3FA2-4DB7-88A0-15467853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81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3D3B44-7306-4BFE-97C9-4AF3A28A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24025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解释读数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7B8378-B13A-44FF-90B2-37915906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把气压、天气、导航、云层等上下文解释成实际判断。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E9BCAA-DA2C-41CD-A58A-EC0D2A3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2476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033DA0-2A0F-4165-BEA5-A6DC2665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670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EBAF16-2FAD-4DD0-8A5B-3D477AC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09900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执行动作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59C165-6A82-41F0-BB1E-6DE7571D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81375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SOS 手电筒、哨子、打开工具等通过本机动作呈现。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03A51-C837-4C55-9038-0B70F92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2476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8A5072-D60C-43B6-86B5-870CC83B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6702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C7DC7A-23A9-46B0-927E-2FC2C52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安全边界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7AA132-65B5-42A9-9CE5-522F34AE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81375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不伪造传感器读数；高风险场景提醒真实装备和救援渠道。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F2B6CC-4081-40F7-9472-A27792F5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路演表达：AI 是 Trail Sense 的“操作层”和“解释层”，不是替代原 App。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44A914-2F53-4556-8DDA-E103A229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1091410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E0331-A670-4933-B652-1B5A8E31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BF95F-4F04-4164-A0C7-5165DD9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21142-A1CD-4234-9D51-48B43F34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7AC88-41AD-4896-8730-F37E21C3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A0848-E876-4358-8077-5CBDD1D5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F9F73-DD3C-44FE-B90A-32D70395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系统架构：Gemma 4 运行在手机本地，工具调用进入 Trail Sense 原能力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0BCBA-BA12-4CC7-8225-19FE3CD1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37888-CB5E-42AE-A307-884E41A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809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F3827-D452-493F-851A-2CC2EDF2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302D3-B228-493C-8E5A-0472B0D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用户输入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A78F6-91A5-4D07-A841-E5AB2B18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50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文本问题 / 图片 / Trail Sense 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24962-7C96-4BAA-BF5A-0DCC01DB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38363"/>
            <a:ext cx="828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0B2A5-90DB-4C92-997E-0B3FA20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0DD79-F3DF-455F-B4FF-4419FE36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43050"/>
            <a:ext cx="21526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747D9-C1C6-48D9-9080-AB022301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CCE4E-EA1E-4461-9994-59DFEB6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38325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AI Assistant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B55CF-C4F4-4A55-8481-FCCF51AB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1847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AiAssistantFragment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聊天、图片、历史、行动卡片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8F1EC5-24D4-45DC-A822-50CCF28A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8363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D94C6-15B9-413E-89E1-3E8473AB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0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2C6B3-CA1A-42AA-8868-8B085B1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28750"/>
            <a:ext cx="22860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11B3F-40BF-4759-A1F2-E1DCA780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81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62B1E-54C0-4B7B-A321-33DDE9BD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Prompt + Knowledge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5FC8B-E7A7-4B1B-8AE8-147D817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9812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AiPromptBuilder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ai_tool_knowledge.md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ai_tool_skills.md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E8D052-C239-4B4F-AEE6-1A1C8716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8363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4808F-6812-4037-A58A-DF3FE980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105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FCA26C-AF92-40FE-8AB1-8F25231F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219075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D57B1-E132-4F2F-8471-3BA741F6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5049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936F7-E6B7-4B5D-8773-E407515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647825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Gemma 4 本地 LLM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101E1-27C0-45D9-8436-CAA877FA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19300"/>
            <a:ext cx="18859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LiteRT-LM Engine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Gemma-4-E2B-it / E4B-it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GPU 优先，CPU 回退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8390A-0C00-4A37-82AD-A7EE322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23431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3068A5-BD3E-4322-A2EC-E38E1D0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43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AE6CE-7F8F-4699-B01A-5DF5EC25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86225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Native Function Calling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80EE6-02AC-4532-A37C-B58210B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57700"/>
            <a:ext cx="2038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AiAssistantTools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loadSkill()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runTrailSenseTool()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B72307-B0C9-4141-BAD5-3ABC78A2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90950"/>
            <a:ext cx="23431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CBDB21-6B6C-4D10-AEA5-A4709BB9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D7E51C-0FB7-4500-BD43-A2A3620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86225"/>
            <a:ext cx="203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Tool Execution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2FBF1B-0FF3-48F9-A8DF-9E29E2D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57700"/>
            <a:ext cx="2038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AiToolExecutionService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TrailSenseAiToolRunner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BBF268-BCB0-474B-98C4-B97ACF1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476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9A5F67-FA61-4141-BC56-47489F4E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43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743C9F-68E3-4D4B-A21C-1FFFEDC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86225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Trail Sense 本地工具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BE848-CDB8-4EFE-A144-F5734EDE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57700"/>
            <a:ext cx="2171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天气 / 导航 / 路径 / 信标 / 云识别 / SOS / 哨子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257041-3BEF-4A16-8DA2-1856A9AA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2971800"/>
            <a:ext cx="285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EBEA2B-E993-46B5-B429-8C0AE54D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C8A5F-01BE-4AFC-8801-4F7D9190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0088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C959F5-2468-4089-86B2-34BC37B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F7A521-1D4D-414D-8863-C7A890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100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A47D2F-7039-4083-9967-B7382A75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9490B8-DA33-4A36-A7D7-6E2BA8F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关键点：模型、推理、工具上下文、聊天历史和图片输入都在设备侧完成；网络只用于首次下载模型。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7385A9-BE45-41C7-A431-68CCCFF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767698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11AF5-4CA1-49A0-8CEC-B471755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CEBFD-E376-4D77-A70D-68B2008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77DFE-6155-444E-9A34-5FDB1F30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575CF-AAC8-4CF1-BBD3-F210CF0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1EFB4-7A4F-4322-B802-A70848BD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ACCC1-4246-4D64-8822-1B10D7AC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Agent Skill：把 Trail Sense 的工具能力封装成户外任务技能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E0038-78D8-4FB2-BCC6-1C957F11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32EE5-C21A-48A4-8D22-68DE8B30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5524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Skill 不是功能卡片，而是完成任务的步骤。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46FC2-5435-4F25-9F19-D6122C7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52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先理解用户目标，再加载相关 Skill，最后通过工具调用读取本机上下文或生成行动卡片。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EE790-DF89-4C89-8975-EF046773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90650"/>
            <a:ext cx="2476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40AEC-F450-448C-B4C3-4AE37223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43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D1C2F-0261-454E-9ED4-DA15CDC6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85925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Skill 知识库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E0C5E-9FC1-4CB2-8E83-C7139A70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5740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ai_tool_skills.md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迷路、天气风险、天黑返程、求救信号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D8393-C8C9-46E9-915C-939A6EF5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24765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A92E7-ED5D-4520-B539-F4812F99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430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9C79D8-F70C-4DBD-882F-A786C40A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685925"/>
            <a:ext cx="2171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工具知识库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09516-D20D-43E4-BFCF-C47596EE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5740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ai_tool_knowledge.md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入口、读数、使用步骤、注意事项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B3944-DCD5-4605-A7D9-F217C48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0000"/>
            <a:ext cx="2190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97E89-EF3A-490E-B534-37998EBD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7625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loadSkill(skillName)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47F6C-C10A-4BF9-B05F-7A874A93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76688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1C47E-D1B8-4F5B-8045-377C538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40617-215F-441B-B87A-6B67BA07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51B33-FBEB-43E4-A8F4-2408A62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57625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runTrailSenseTool(toolId)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66B04-AB03-49EF-801C-CA7910FF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76688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586EE-DE8D-4F69-8212-4AFA5BA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2F908-4245-48FD-97EE-14CB2B1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1714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5BF05-625E-4F39-8DFB-8A417592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本地工具结果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859A3-3016-4790-826B-E2BB330E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76688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91E9B-9D1B-4DCA-BA65-F69F3B3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55047-3A99-48CB-913E-868DA60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91050"/>
            <a:ext cx="1714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0A800E-679F-4098-8CFD-564F7AD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3867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回答 + 卡片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A1A08D-65A0-4B78-B456-8943A69C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342900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0F96A-5321-4678-9B67-15046A5C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EF60D9-FC57-4191-8DFF-48BFA44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示例：迷路无信号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56B98-EA08-4727-B8DF-054C8C16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推荐导航、路径、信标、离线地图；必要时准备 SOS 手电筒和哨子。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AAAC2D-3D64-4236-8F2B-DBBA01D3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342900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3D69C-B447-4FB0-8C88-FAC94D7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244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180DF-E5A7-43E6-A50D-6E376C63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9590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示例：天气风险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FE0630-7E53-49DF-ABF2-867AE64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769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读取天气/气压上下文，结合云层观察解释风险，而不是只给泛泛户外建议。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68F312-FE99-4D6A-9671-E9F60FBC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3429000" cy="1047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900DFC-909F-40B2-B93D-455DF207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244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A4F6B8-5169-4104-AE06-F0697275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9590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示例：天黑返程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94EA29-B2DE-499A-8E45-3B5AC457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76900"/>
            <a:ext cx="3086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把日落、路径、导航和返程提醒组织成一个行动顺序。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FC45A-A562-41FC-ACB5-C9C19751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57581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9525D-DB4D-4FFB-982C-CE3AFD36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CD311-7761-4D9E-8410-E4F691D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3489E-9748-4EAD-B8C4-46C040BC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04F39-D5CD-46AF-B19E-BC48CBC9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D150C-4550-43F2-87C9-EEE2A726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22401-4C5B-456F-A763-A29B775E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多模态图片输入：从户外照片和 App 截图进入本地推理链路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7895C-0CB5-432F-B3C3-F6012396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F9BB4-3BB8-4856-A717-489B1DCC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5334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图片不是装饰，是户外观察上下文。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8297E-06F9-4CDC-A63D-87AEB91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524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用户可以附加天空、云层、户外环境，或 Trail Sense 截图；系统把图片压缩后和文本一起送入 Gemma 4 Conversation。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79201-7D70-4671-AD1C-64AD6F5D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2190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95BFA-08BE-4322-8918-4F1BCDF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81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0F6A6-D491-4F83-A5F6-4DFF677C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24025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图片选择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EA29F-2291-452C-9453-96EC578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ActivityResultContracts.GetContent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读取 image/*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DA081-1E4C-48AA-8D6D-90BCE17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7863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B8720-C098-4F9E-8A78-59BA9597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14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CACA0-17FD-4731-8351-4B61E3FC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28750"/>
            <a:ext cx="2190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FBDD1-8C32-40DE-AB5E-12CE129F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581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A9C5F-1EE4-4DFF-9768-6CDC0B93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24025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Bitmap 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3FD31-E3C1-4831-A548-946D02AB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按最大边缩放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减少内存压力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0D4C4-29F8-47DC-A0C3-775BFE0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2190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BD77C-1710-4FA2-AE02-4652844A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81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5ED977-23C1-4956-B227-B709FC6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24225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Prompt 图片提示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2CFEBE-A922-44D5-85D6-BAC30BB6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Attached image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截图读数、云层、动植物、安全风险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4F534-E240-474F-AF96-58D7E29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8063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6C8E8-3275-4787-87BD-DF77C58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7C931-F0DD-4DB5-9CD7-8C05EFA0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219075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80A9D-09D2-4AC0-83F5-B709A011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813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AFBE7-7C46-4C0E-8F42-0BE53929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24225"/>
            <a:ext cx="1885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LiteRT-LM 输入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891DC1-A2C0-44A7-8A1E-B03DBDCF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95700"/>
            <a:ext cx="1885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Content.ImageBytes + Content.Text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本地 Conversation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C803F7-8045-4F43-A541-1A9FACE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2385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E3F9D-C7AC-40C9-9A40-508E36F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77B29-B23E-43FC-874C-3243AF0F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云层识别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93BFA-AB12-4C60-BB85-331D3CB0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89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解释云型和潜在天气风险，连接原有云识别/天气工具。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CD5E79-2ED2-46E6-A94A-460720DE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81500"/>
            <a:ext cx="32385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9C2D9B-B06C-406D-BC48-AE5A9510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8FFC3F-3E65-435C-8E41-0FED650F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截图解释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18115-2B1A-4103-995D-3BA344DC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289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读取界面上的数字、单位、标签和面板，解释当前工具读数。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DAB613-9BBE-425F-9F7B-DE24085C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81500"/>
            <a:ext cx="32385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6E3A02-F203-4F6C-BDB8-6F806FA4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CBE69-FF2C-4068-8304-478F828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244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环境观察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FCDB93-7FDE-4195-9322-E9C48EC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05400"/>
            <a:ext cx="289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结合户外照片和 Trail Sense 工具，给出观察建议和安全提醒。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063359-59E2-41B2-B547-4A90FC11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1639341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2C01E-9AE1-49F2-9102-90D5D62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A1B33-669C-4A20-85CB-1B19E08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C8C80-B2FF-4708-9C9F-4327308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C3EEF-B535-432A-888C-623CBD8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5E3A7-3613-4E14-854F-72F08CE4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586E4-ED47-4B49-B959-9DE31858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路演 Demo 应该讲一个完整户外故事，而不是逐项点功能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792FD-5980-4F00-BBF2-F89DA431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08420-F1F0-4ED9-9791-531091D5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推荐演示脚本：从“迷路无信号”进入，逐步展示工具协同。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BFBE7-8BC8-4D21-833F-7D78DF4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半决赛时建议把 demo 控制在 3-4 分钟：先讲原 App 的离线工具，再展示 AI 如何把这些工具串成行动。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F0EE7-D8D6-4F72-B59A-FE76170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000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047FD-AABF-4917-B295-28A30355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E7F37-0481-4292-A1A9-C8CECD1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33775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1. 进入 AI Assistant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AC954-5904-4E46-98F1-5E055275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695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展示这是 Trail Sense 内部新工具，而非外部 Web chatbot。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86152-AE37-46BE-9ADB-065FE5F5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957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1FBA4-B816-4CEE-A7D1-84E845DF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E6CA3-953A-403A-9FE8-A3F95D30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000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6EDF8-0816-4B60-9E45-7CD74309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909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8CFD0-5680-4372-B2F4-E7FF43BD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33775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2. 迷路无信号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A91EA-2F29-4E1E-A311-D203FC7E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05250"/>
            <a:ext cx="1695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输入：我迷路了，手机没信号怎么办？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8258D-6791-46DA-84AB-56DB09E3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57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1A7C1-46D4-4729-8F77-AB71B3B6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98A3C-4F5C-4676-9C93-C58F81C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2000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9CEB9-4C1E-4FAA-B91C-FCDA3D31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95A79-C47A-4703-9E35-8903CC6B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3775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3. 工具推荐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57957-DAF0-4FD3-8DAD-E67455F8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05250"/>
            <a:ext cx="1695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 推荐导航、路径、信标、离线地图和安全步骤。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4D1335-3F9D-43F6-960A-5A5D04D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57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B20A2-0E31-47F0-8E3B-D3349C8B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D36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24F8D2-47EC-4F7A-A957-6CBF1B5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0002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E5742-9D82-4AE6-9092-E3AC4D11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909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6D6DE-E005-4F97-8E75-B49EEE9B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33775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4. 应急动作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E0D5E9-66DD-4474-AF5B-DCC7D6FA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1695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输入打开 SOS 手电筒或用哨子求救，展示行动卡片。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F6A5C7-60AA-4CB4-8884-58F03D19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5775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8D2BF4-C3A9-456D-AFE0-1B91DD4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10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645D8-E89C-4B73-82A0-0334A5A7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53025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5. 读数解释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34C7D-3EBC-4460-A15D-43F43E30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24500"/>
            <a:ext cx="1695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天气/气压怎么看？展示本地上下文解释能力。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DD1BBC-FE92-4737-B654-04791C3A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20002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ABEF3F-FF05-4924-A502-7F157931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09C114-9BD4-4CA5-BBE9-2F66033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53025"/>
            <a:ext cx="1695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6. 图片输入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BC15B9-AB35-47C6-8681-2BAB409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24500"/>
            <a:ext cx="1695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附加云层或截图，展示多模态入口。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8B8902-F484-478C-9FBD-4947E52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29300"/>
            <a:ext cx="4381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300AC1-0F2D-4B6F-BAB0-0192C9A7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876925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结论：用户说目标，Trail Sense 组织工具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8328DC-85EE-49DF-94F4-5C146C68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343420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E3680-ACAC-496C-B6C7-8C89993A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1D336-29BC-4A2D-9D11-14AC5B1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9F539-F063-47EF-8511-F696042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A1A93-4AE2-4B51-99D8-DF4F221B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C05F9-CBD6-4A03-926B-674A830A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307BC-58B1-43AF-910A-345FCDF1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工程验证：不是概念稿，已经有代码、APK、视频和官方提交材料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12CFD-022C-4A39-BD57-379F7277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E8B94-62DE-4C06-A211-16A9B366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590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半决赛要强调：这是可运行的 Android 项目。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AC4BB-477D-4F64-A0F6-4407375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619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代码路径、构建命令、测试命令、Demo 视频、APK 下载和技术报告都已经整理进提交材料。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19F42-87B4-46AA-8227-8FC3317A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2476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595BF-D244-4755-A755-2147C44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00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10B9A-C358-4173-8A4A-7179C4C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716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Gemma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931F7-920A-40CB-A094-E9F187DF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E2B 默认模型 / E4B 可选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B04D7-3DC1-4A60-AB4A-86BB5B2B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2476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5E75F-2E27-4AB7-A85C-327F81AC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60C96-F465-431D-BC77-BE0B646B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716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LiteRT-LM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28E38-81BE-462B-A3A8-DF25CE48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907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本地 Engine + Conversation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CA969-EFA2-4AAD-8C74-E4179F81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2476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69C81-3447-4548-B97B-F89258F0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42201-DE54-4458-8CB3-867D3C3C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769F0-64B7-4F5B-AE2C-FFD7179B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Prompt、Skill、模型、工具服务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C3A5E-B98C-401B-BB86-20C8757D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47650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DDF88-06A5-4330-BFE5-2431EDFE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242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A4E17-0A4F-49A0-B7C5-C19687C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APK + Demo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85F39-A3A6-4FF5-B95E-2D386334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0"/>
            <a:ext cx="2133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YouTube 视频 + APK 下载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C7000-45F3-490D-9B82-3B8FBAC0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104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3428D9-62F3-463D-AE52-C6C70F09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5CA62-4627-4A86-8CFF-AF5BF86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1070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核心代码路径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9438E-D37A-487F-8F97-1155C5A8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070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AiInferenceSubsystem / ModelManager / AiAssistantTools / TrailSenseAiToolRunner</a:t>
            </a:r>
          </a:p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AiPromptBuilder / ai_tool_knowledge.md / ai_tool_skills.md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E680D-231F-4272-B7AA-A193E13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1354065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3DB42-8F32-4BA2-90EC-4B4B5B3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1BE2E-728B-4D5A-B872-066E9E26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021A-3A5F-4028-88CF-486DF15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75FD1-E5C0-4DC4-9470-30096D6A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88645-DD88-4553-9891-0AA1B3A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FC305-9ECB-48E2-A5B8-B1FE6AAB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差异化：不是云端聊天机器人，而是端侧工具型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58751-D8F8-435D-9A8B-1A40FC6E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E0F80-623A-443B-9B08-8E789BFA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6286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评委应该看到三层差异：场景、架构、交互。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89B65-1BD0-4E35-AE98-E18220BA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6381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 的核心壁垒不是“能回答户外问题”，而是它接入了真实 App 工具、真实本地上下文和真实应急动作。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F2E4A-0AF1-468F-8B5C-B520568C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5F8E2-49F3-465B-9643-EB8064B4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FC145-8817-4C22-BDEA-9CB5C5FA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24275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普通云端 Chatbot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83141-A7A9-4BA9-9008-9C035AB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2552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依赖网络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不了解 App 工具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容易泛泛建议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不能生成本机动作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5148C-B2AD-44D9-9086-DF30159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4A229-5FE2-4EA4-9E50-8830796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814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A3884-2C4B-4EC9-A9E7-652FE495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24275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单独 AI 功能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F77A0-A958-401E-BE02-540473DF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2552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只介绍模型能力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产品上下文弱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难证明用户会持续使用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D642BB-1E12-42E1-B0A7-EEF0F99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14325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4E8"/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45EC8-A605-4570-8706-C352C340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909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0A26C-E26E-4787-A38E-2AC4211E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33775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41BAB-68A5-4757-95B4-D57212C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8384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原工具箱 + 端侧 LLM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Agent Skill + Tool Calling</a:t>
            </a:r>
          </a:p>
          <a:p xmlns:a="http://schemas.openxmlformats.org/drawingml/2006/main">
            <a:pPr>
              <a:defRPr sz="938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本地数据 + 行动卡片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711F9-60B4-4B1A-BFC5-8DAECE7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9906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路演落点：把 AI 做进一个有明确场景、有离线价值、有真实工具资产的 App。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2A603-1A53-4D36-B54D-F1709B79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21277159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D20C20-A2D8-4B0E-A112-4C5DDBC1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9EC"/>
              </a:gs>
              <a:gs pos="58000">
                <a:srgbClr val="E8EFE4"/>
              </a:gs>
              <a:gs pos="100000">
                <a:srgbClr val="D8E0C8"/>
              </a:gs>
            </a:gsLst>
            <a:lin ang="81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29A70-0962-4DA5-8090-C6D9ED83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2E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6DFD8-E4DB-443C-8829-BCE722E8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CAE97-CBAA-4FC8-A729-A5DA2942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28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E70BF-E57F-4810-902F-8207233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TRAIL SENSE AI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1414D-7E97-4A26-8E37-214AE2A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781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半决赛答辩重点：把项目从“功能”讲成“系统”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F4746-5064-46DE-B3E0-9DB0CD97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53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34D3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EB5E3-8DB2-4C54-AA67-7CC75B5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23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建议口径：这是端侧 AI 在垂直工具 App 里的完整落地。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1DBDF-F2B2-4DDF-8F89-E18D428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42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9BAC4-A012-456D-9D13-786A7E1B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28928-B72D-4B0E-A08F-CEA23BD4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1. 完整产品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45871-D929-41C6-B9F1-0A36F552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先讲 Trail Sense 原有工具箱，再讲 AI 如何让工具箱更易用。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F18CE-9E02-414D-A5FC-C5338E2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42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23882-29EF-4A81-8EAA-95978B6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8AC85-B941-4F58-A73D-4691626E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2. Edge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BE3AB-8AB9-4489-8AB1-6B6B5187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+ LiteRT-LM 在 Android 本地推理，弱网/无网仍能工作。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8C6E7-6A26-4C59-86BD-6AFA741B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42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B0182-DB31-4C1D-997C-80D23401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3B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3B01DC-A00D-44CF-8B3F-215EEE7B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3. Agent 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35F5F-7BC7-4494-8F90-B2EFE21F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AI 能加载户外任务技能，并通过工具调用读取 Trail Sense 本地能力。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43E3B-6A27-4153-ACF9-ADF505E5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42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0F81B-C1D2-4372-A43C-53CD2045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38CB5-5F22-4D89-868B-8F10A7F5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4. 多模态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7E7B5-B4BB-4E98-A93C-F432ADD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图片、云层、户外环境和 App 截图进入本地视觉问答链路。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7AEF1-8930-4A3D-A551-093BE49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42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3DA21-8894-4BDF-885D-C0DEFF79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2A4CC-F6D5-4A9D-881C-9A17CA97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5. 安全边界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80178-C477-459B-BCC7-BFC73E3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2440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不伪造传感器读数；高风险问题强调真实装备、官方信息和救援。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EAD5A-0363-44E7-8B4F-BF2B0799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429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DD9055-1099-4063-8EB7-013F14F6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2D331-B490-4B5E-AD8E-10027DF0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43400"/>
            <a:ext cx="308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6. 可运行证明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E64371-854A-481E-92E6-35B99948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24400"/>
            <a:ext cx="3086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Demo 视频、APK、测试、技术报告、官方补充 PR 已准备。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0066F-DAD5-455F-919C-D0EE4F6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Gemma 4 Hackathon Shanghai · Trail Sense AI Assistant</a:t>
            </a:r>
          </a:p>
        </p:txBody>
      </p:sp>
    </p:spTree>
    <p:extLst>
      <p:ext uri="{BB962C8B-B14F-4D97-AF65-F5344CB8AC3E}">
        <p14:creationId xmlns:p14="http://schemas.microsoft.com/office/powerpoint/2010/main" val="544267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3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1B563C-7FC1-4C53-8FFA-7B1D2EA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3B2E"/>
              </a:gs>
              <a:gs pos="68000">
                <a:srgbClr val="10231C"/>
              </a:gs>
              <a:gs pos="100000">
                <a:srgbClr val="C45C3B"/>
              </a:gs>
            </a:gsLst>
            <a:lin ang="8700000"/>
          </a:gra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0019B-0058-4140-98A4-11A3E5F4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EDE02-3AF1-44A7-951C-F72A295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247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B35A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最后一句话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445E0-39F1-4876-92EC-5042528B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7239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9EC"/>
                </a:solidFill>
                <a:latin typeface="Avenir Next"/>
                <a:ea typeface="Avenir Next"/>
                <a:cs typeface="Avenir Next"/>
              </a:defRPr>
            </a:pPr>
            <a:r>
              <a:t>让户外工具</a:t>
            </a:r>
          </a:p>
          <a:p xmlns:a="http://schemas.openxmlformats.org/drawingml/2006/main">
            <a:pPr>
              <a:defRPr sz="4200" b="1">
                <a:solidFill>
                  <a:srgbClr val="FFF9EC"/>
                </a:solidFill>
                <a:latin typeface="Avenir Next"/>
                <a:ea typeface="Avenir Next"/>
                <a:cs typeface="Avenir Next"/>
              </a:defRPr>
            </a:pPr>
            <a:r>
              <a:t>在无网时也能听懂人话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70FE4-1265-490F-9607-52DDE0A8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723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E8EFE4"/>
                </a:solidFill>
                <a:latin typeface="Avenir Next"/>
                <a:ea typeface="Avenir Next"/>
                <a:cs typeface="Avenir Next"/>
              </a:defRPr>
            </a:pPr>
            <a:r>
              <a:t>Trail Sense AI Assistant = 成熟离线户外工具箱 + Gemma 4 本地 LLM + Agent Skill + Native Function Calling + 多模态输入。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D2F4F-F1B4-4107-98D2-564D33A4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4095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FD622-453A-47D8-AF23-A1675C4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t>Demo: youtube.com/watch?v=EkK9DF7OfXg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97000-5729-45C7-BC39-6E2A88A5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52550"/>
            <a:ext cx="2000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28141-DFDB-4D15-B836-B0175AE6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35A"/>
          </a:solidFill>
          <a:ln xmlns:a="http://schemas.openxmlformats.org/drawingml/2006/main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A8B4F-CA78-4E1E-9E9F-2CD58958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95450"/>
            <a:ext cx="1657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Track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06E30-4CE4-4A14-87A7-BB7A004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1657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Edge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C3AE9-5817-4D38-8C79-0173A05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00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AE809-DE52-4A66-8840-F612569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35D"/>
          </a:solidFill>
          <a:ln xmlns:a="http://schemas.openxmlformats.org/drawingml/2006/main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3C2DC-5C80-4B91-8EDC-219FBC0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1657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Gemma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C7604-D58B-4DA7-AC08-C3C9E91E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657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端侧 LLM + 多模态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AABA9-7AFF-4498-9F1A-0308E4DF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381250" cy="1257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8EF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496EB-12BB-4D63-B5D4-F6DD773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7200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B6A7"/>
          </a:solidFill>
          <a:ln xmlns:a="http://schemas.openxmlformats.org/drawingml/2006/main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DB7B2-E8A2-409F-976C-8883D76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31C"/>
                </a:solidFill>
                <a:latin typeface="Avenir Next"/>
                <a:ea typeface="Avenir Next"/>
                <a:cs typeface="Avenir Next"/>
              </a:defRPr>
            </a:pPr>
            <a:r>
              <a:t>Trail Sense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33CA5-24FB-463E-8D7B-CF3EAB64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2038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63F"/>
                </a:solidFill>
                <a:latin typeface="Avenir Next"/>
                <a:ea typeface="Avenir Next"/>
                <a:cs typeface="Avenir Next"/>
              </a:defRPr>
            </a:pPr>
            <a:r>
              <a:t>完整户外工具产品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E9259-8EC8-4493-AC17-8817015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FFF9EC"/>
                </a:solidFill>
                <a:latin typeface="Avenir Next"/>
                <a:ea typeface="Avenir Next"/>
                <a:cs typeface="Avenir Next"/>
              </a:defRPr>
            </a:pPr>
            <a: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87923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2026-06-08T13:17:21.5700000Z</dcterms:created>
  <dcterms:modified xsi:type="dcterms:W3CDTF">2026-06-08T13:17:21.5700000Z</dcterms:modified>
</coreProperties>
</file>